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74" r:id="rId3"/>
    <p:sldId id="256" r:id="rId4"/>
    <p:sldId id="257" r:id="rId6"/>
    <p:sldId id="269" r:id="rId7"/>
    <p:sldId id="278" r:id="rId8"/>
    <p:sldId id="279" r:id="rId9"/>
    <p:sldId id="268" r:id="rId10"/>
    <p:sldId id="273" r:id="rId11"/>
    <p:sldId id="272" r:id="rId12"/>
    <p:sldId id="271" r:id="rId13"/>
    <p:sldId id="275" r:id="rId14"/>
    <p:sldId id="270" r:id="rId15"/>
    <p:sldId id="277" r:id="rId16"/>
    <p:sldId id="276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8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8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8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8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8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8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AUTONOMOUS AI AGENT FOR IT HELPDESK</a:t>
            </a: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CAI_27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085" y="2721610"/>
          <a:ext cx="5664200" cy="21945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179320"/>
                <a:gridCol w="3484880"/>
              </a:tblGrid>
              <a:tr h="36576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tx1"/>
                          </a:solidFill>
                        </a:rPr>
                        <a:t>20221CAI0154</a:t>
                      </a:r>
                      <a:endParaRPr lang="en-US"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t" anchorCtr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tx1"/>
                          </a:solidFill>
                        </a:rPr>
                        <a:t>VISHNU PRASAD GOTUR</a:t>
                      </a:r>
                      <a:endParaRPr lang="en-US"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t" anchorCtr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tx1"/>
                          </a:solidFill>
                        </a:rPr>
                        <a:t>20231CAI0139</a:t>
                      </a:r>
                      <a:endParaRPr lang="en-US" sz="1800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t" anchorCtr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tx1"/>
                          </a:solidFill>
                        </a:rPr>
                        <a:t>SHIVARAJ</a:t>
                      </a:r>
                      <a:endParaRPr lang="en-US"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t" anchorCtr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5896610" y="2214880"/>
            <a:ext cx="6625590" cy="202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Under the Supervision of,</a:t>
            </a:r>
            <a:endParaRPr lang="en-GB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 Parth Naik </a:t>
            </a:r>
            <a:endParaRPr lang="en-US" altLang="en-US" sz="2000" b="1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US" altLang="en-US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Assistant Professor</a:t>
            </a:r>
            <a:endParaRPr lang="en-US" altLang="en-US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457200" marR="0" lvl="1" indent="45720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US" altLang="en-US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School of Computer Science and Engineering</a:t>
            </a:r>
            <a:endParaRPr lang="en-US" altLang="en-US"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90204"/>
              <a:buNone/>
            </a:pPr>
            <a:r>
              <a:rPr lang="en-US" altLang="en-US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                  	      Presidency University</a:t>
            </a:r>
            <a:endParaRPr lang="en-US" altLang="en-US"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GB" sz="20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CSS7102- Mini  Project Review-</a:t>
            </a:r>
            <a:r>
              <a:rPr lang="en-US" altLang="en-GB" sz="20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2</a:t>
            </a:r>
            <a:endParaRPr lang="en-US" altLang="en-GB" sz="2000" b="1" i="0" u="none" strike="noStrike" cap="none" dirty="0" smtClean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Name of the Program: </a:t>
            </a:r>
            <a:r>
              <a:rPr lang="en-US" altLang="en-US" sz="19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B.Tech Computer Science and Engineering (Artificial Intelligence &amp; Machine           Learning)</a:t>
            </a:r>
            <a:endParaRPr lang="en-US" altLang="en-US" sz="19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Name of the HoD: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D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r. Zafar Ali Khan</a:t>
            </a:r>
            <a:endParaRPr lang="en-US" alt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9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Name of the Program Project Coordinator: </a:t>
            </a:r>
            <a:r>
              <a:rPr lang="en-US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Ms. Suma N G</a:t>
            </a:r>
            <a:endParaRPr lang="en-US" alt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 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Dr. Sampath A </a:t>
            </a: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804030504040204"/>
                <a:sym typeface="Verdana" panose="020B0804030504040204"/>
              </a:rPr>
              <a:t>K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804030504040204"/>
              <a:sym typeface="Verdana" panose="020B08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762000"/>
            <a:ext cx="10668000" cy="555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/>
          </a:bodyPr>
          <a:lstStyle/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1. Abstract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2. Literature Survey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3. Objectives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4. Existing Methods &amp; Drawbacks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5. Proposed Method &amp; Feasibility Study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6. Architecture Diagram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7. Modules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8. Hardware &amp; Software Details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9. Timeline (Gantt Chart)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10. References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63880" y="9525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1905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 The proposed project develops an Autonomous AI Agent for IT Helpdesk to handle suitable repetitive Level-1 IT support requests, such as password resets, software installation, and access requests.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 The system combines natural-language request understanding, Enterprise Knowledge Retrieval (RAG), LLM reasoning and planning, controlled workflow execution, outcome verification, and human escalation.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 The proposed model introduces policy and authorization controls before tool execution, while verification compares the expected and actual IT state to determine whether the request can be resolved, re-planned, or escalated.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927475"/>
            <a:ext cx="5384800" cy="2168525"/>
          </a:xfrm>
        </p:spPr>
        <p:txBody>
          <a:bodyPr/>
          <a:p>
            <a:pPr marL="76200" indent="0">
              <a:buNone/>
            </a:pPr>
            <a:r>
              <a:rPr lang="en-US"/>
              <a:t>  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LITERATURE SURVEY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419100" y="1088390"/>
          <a:ext cx="10919460" cy="4774565"/>
        </p:xfrm>
        <a:graphic>
          <a:graphicData uri="http://schemas.openxmlformats.org/drawingml/2006/table">
            <a:tbl>
              <a:tblPr/>
              <a:tblGrid>
                <a:gridCol w="610870"/>
                <a:gridCol w="4110355"/>
                <a:gridCol w="6198235"/>
              </a:tblGrid>
              <a:tr h="577850">
                <a:tc>
                  <a:txBody>
                    <a:bodyPr/>
                    <a:p>
                      <a:r>
                        <a:rPr lang="en-US" altLang="zh-CN" sz="1500" b="1"/>
                        <a:t>No.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Research Paper / Focus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Contribution &amp; Limitation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9470">
                <a:tc>
                  <a:txBody>
                    <a:bodyPr/>
                    <a:p>
                      <a:r>
                        <a:rPr lang="en-US" altLang="zh-CN" sz="1500" b="1"/>
                        <a:t>1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Firmansyah &amp; Subriadi (2022)</a:t>
                      </a:r>
                      <a:r>
                        <a:rPr lang="en-US" altLang="zh-CN" sz="1500"/>
                        <a:t> — IT Service Desk Model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Establishes IT service-desk foundation; does not provide an autonomous LLM-agent pipeline.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9470">
                <a:tc>
                  <a:txBody>
                    <a:bodyPr/>
                    <a:p>
                      <a:r>
                        <a:rPr lang="en-US" altLang="zh-CN" sz="1500" b="1"/>
                        <a:t>2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Jäntti &amp; Kalliokoski (2010)</a:t>
                      </a:r>
                      <a:r>
                        <a:rPr lang="en-US" altLang="zh-CN" sz="1500"/>
                        <a:t> — Service Desk Knowledge Management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Highlights knowledge-management challenges; does not address autonomous agent execution.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8835">
                <a:tc>
                  <a:txBody>
                    <a:bodyPr/>
                    <a:p>
                      <a:r>
                        <a:rPr lang="en-US" altLang="zh-CN" sz="1500" b="1"/>
                        <a:t>3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Tello, Ruiz &amp; Yoo (2018)</a:t>
                      </a:r>
                      <a:r>
                        <a:rPr lang="en-US" altLang="zh-CN" sz="1500"/>
                        <a:t> — COBIT 5 DSS02 / Process Mining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Provides structured service-request and incident workflow; no LLM-based execution.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9470">
                <a:tc>
                  <a:txBody>
                    <a:bodyPr/>
                    <a:p>
                      <a:r>
                        <a:rPr lang="en-US" altLang="zh-CN" sz="1500" b="1"/>
                        <a:t>4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Nascimento, Alencar &amp; Cowan (2023)</a:t>
                      </a:r>
                      <a:r>
                        <a:rPr lang="en-US" altLang="zh-CN" sz="1500"/>
                        <a:t> — Self-Adaptive LLM Multiagent Systems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Supports adaptive LLM-agent architecture; broader than IT helpdesk automation.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9470">
                <a:tc>
                  <a:txBody>
                    <a:bodyPr/>
                    <a:p>
                      <a:r>
                        <a:rPr lang="en-US" altLang="zh-CN" sz="1500" b="1"/>
                        <a:t>5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Zhang et al. (2024)</a:t>
                      </a:r>
                      <a:r>
                        <a:rPr lang="en-US" altLang="zh-CN" sz="1500"/>
                        <a:t> — PrivacyAsst 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Addresses privacy and controlled tool use; does not cover the complete helpdesk lifecycle.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LITERATURE SURVEY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76200" indent="0">
              <a:buNone/>
            </a:pPr>
            <a:r>
              <a:rPr lang="en-US"/>
              <a:t> 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433070" y="961390"/>
          <a:ext cx="11325225" cy="3345815"/>
        </p:xfrm>
        <a:graphic>
          <a:graphicData uri="http://schemas.openxmlformats.org/drawingml/2006/table">
            <a:tbl>
              <a:tblPr/>
              <a:tblGrid>
                <a:gridCol w="739775"/>
                <a:gridCol w="4636770"/>
                <a:gridCol w="5948680"/>
              </a:tblGrid>
              <a:tr h="576580">
                <a:tc>
                  <a:txBody>
                    <a:bodyPr/>
                    <a:p>
                      <a:r>
                        <a:rPr lang="en-US" altLang="zh-CN" sz="1500" b="1"/>
                        <a:t>6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SIMA 2 (2025)</a:t>
                      </a:r>
                      <a:r>
                        <a:rPr lang="en-US" altLang="zh-CN" sz="1500"/>
                        <a:t> — Generalist Embodied Agent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Demonstrates goal-directed agent behaviour; different domain from IT helpdesk.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5310">
                <a:tc>
                  <a:txBody>
                    <a:bodyPr/>
                    <a:p>
                      <a:r>
                        <a:rPr lang="en-US" altLang="zh-CN" sz="1500" b="1"/>
                        <a:t>7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Evolving Deeper LLM Thinking (2025)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Supports inference-time reasoning and iterative refinement; not IT-helpdesk specific.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4215">
                <a:tc>
                  <a:txBody>
                    <a:bodyPr/>
                    <a:p>
                      <a:r>
                        <a:rPr lang="en-US" altLang="zh-CN" sz="1500" b="1"/>
                        <a:t>8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Richens &amp; Everitt (2024)</a:t>
                      </a:r>
                      <a:r>
                        <a:rPr lang="en-US" altLang="zh-CN" sz="1500"/>
                        <a:t> — Causal World Models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Provides causal world-model foundation; not an IT-helpdesk resolution system.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lang="en-US" altLang="zh-CN" sz="1500" b="1"/>
                        <a:t>9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BrowseComp (2025)</a:t>
                      </a:r>
                      <a:r>
                        <a:rPr lang="en-US" altLang="zh-CN" sz="1500"/>
                        <a:t> — Browsing Agents 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Supports agentic information gathering; does not provide controlled IT workflow execution.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1500" b="1"/>
                        <a:t>10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 b="1"/>
                        <a:t>How Agents Are Transforming Work (OpenAI)</a:t>
                      </a:r>
                      <a:endParaRPr lang="en-US" altLang="zh-CN" sz="15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500"/>
                        <a:t>Provides enterprise-work context for delegated agents; does not define the proposed controlled IT-helpdesk architecture.</a:t>
                      </a:r>
                      <a:endParaRPr lang="en-US" altLang="zh-CN" sz="15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418465" y="4366895"/>
            <a:ext cx="113125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n-US" sz="1600" b="1">
                <a:latin typeface="Arial" panose="020B0604020202090204" pitchFamily="34" charset="0"/>
                <a:cs typeface="Arial" panose="020B0604020202090204" pitchFamily="34" charset="0"/>
              </a:rPr>
              <a:t>Existing research provides strong individual building blocks for ITSM, knowledge retrieval, autonomous agents, reasoning and tool use. However, these capabilities are not integrated into one controlled Level-1 IT helpdesk pipeline with policy enforcement, authorization, verification and human escalation.</a:t>
            </a:r>
            <a:endParaRPr lang="en-US" altLang="en-US" sz="16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8465" y="5196840"/>
            <a:ext cx="11464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Proposed Direction:</a:t>
            </a:r>
            <a:endParaRPr lang="en-US" altLang="en-US" b="1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en-US" b="1">
                <a:latin typeface="Arial" panose="020B0604020202090204" pitchFamily="34" charset="0"/>
                <a:cs typeface="Arial" panose="020B0604020202090204" pitchFamily="34" charset="0"/>
              </a:rPr>
              <a:t>Request Understanding → Knowledge Retrieval → IT State → Reasoning &amp; Planning → Policy → Controlled Execution → Verification → Escalation</a:t>
            </a:r>
            <a:endParaRPr lang="en-US" altLang="en-US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951865"/>
            <a:ext cx="10668000" cy="529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Understand and classify natural-language Level-1 IT helpdesk requests.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2. Retrieve relevant enterprise knowledge using Retrieval-Augmented Generation (RAG).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3. Represent relevant IT state using an IT State / World Model.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 Reason and plan suitable resolution actions using an LLM.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5. Evaluate candidate plans before execution.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6. Apply policy, authorization and risk checks before executing actions.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7. Select and execute authorized workflows through controlled tools/APIs.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8. Observe and verify the expected outcome against the actual IT state.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9. Resolve, re-plan or escalate requests based on verification and safety conditions.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90204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10. Define measurable evaluation criteria for system performance.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937260" y="7008495"/>
            <a:ext cx="10970260" cy="48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0000"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504825" y="1169035"/>
          <a:ext cx="10969625" cy="3850005"/>
        </p:xfrm>
        <a:graphic>
          <a:graphicData uri="http://schemas.openxmlformats.org/drawingml/2006/table">
            <a:tbl>
              <a:tblPr/>
              <a:tblGrid>
                <a:gridCol w="4271010"/>
                <a:gridCol w="3209925"/>
                <a:gridCol w="3488690"/>
              </a:tblGrid>
              <a:tr h="583565">
                <a:tc>
                  <a:txBody>
                    <a:bodyPr/>
                    <a:p>
                      <a:r>
                        <a:rPr lang="en-US" altLang="zh-CN" sz="1100" b="1"/>
                        <a:t>Existing Approach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What It Provides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 b="1"/>
                        <a:t>Key Drawback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r>
                        <a:rPr lang="en-US" altLang="zh-CN" sz="1100" b="1"/>
                        <a:t>Rule / Process-Based Helpdesk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Repeatable predefined workflows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Rigid for varied natural-language requests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2465">
                <a:tc>
                  <a:txBody>
                    <a:bodyPr/>
                    <a:p>
                      <a:r>
                        <a:rPr lang="en-US" altLang="zh-CN" sz="1100" b="1"/>
                        <a:t>ML-Based Helpdesk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Ticket classification and prediction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Does not provide autonomous multi-step resolution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015">
                <a:tc>
                  <a:txBody>
                    <a:bodyPr/>
                    <a:p>
                      <a:r>
                        <a:rPr lang="en-US" altLang="zh-CN" sz="1100" b="1"/>
                        <a:t>Knowledge / RAG Systems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Knowledge grounding and information retrieval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Retrieval alone does not decide or execute actions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8340">
                <a:tc>
                  <a:txBody>
                    <a:bodyPr/>
                    <a:p>
                      <a:r>
                        <a:rPr lang="en-US" altLang="zh-CN" sz="1100" b="1"/>
                        <a:t>LLM-Based Agents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Reasoning, planning and action capabilities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Hallucination, authorization, privacy and tool-use risks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5650">
                <a:tc>
                  <a:txBody>
                    <a:bodyPr/>
                    <a:p>
                      <a:r>
                        <a:rPr lang="en-US" altLang="zh-CN" sz="1100" b="1"/>
                        <a:t>Tool-Using Agents</a:t>
                      </a:r>
                      <a:endParaRPr lang="en-US" altLang="zh-CN" sz="11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Interaction with external tools/APIs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Require policy, least privilege, verification and human escalation</a:t>
                      </a:r>
                      <a:endParaRPr lang="en-US" altLang="zh-CN" sz="11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4935" y="-59055"/>
            <a:ext cx="12306935" cy="6316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FEASIBILITY STUDY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263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330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804030504040204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264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073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3087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375920" y="958850"/>
            <a:ext cx="11104880" cy="564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[1] A. D. Firmansyah and A. P. Subriadi, “IT Service Desk Model Literature Review: Benefits and Challenges,” in 2022 International Seminar on Application for Technology of Information and Communication (iSemantic), 2022, pp. 172–177, 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10.1109/iSemantic55962.2022.9920439.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[2] M. Jäntti and J. Kalliokoski, “Identifying Knowledge Management Challenges in a Service Desk: A Case Study,” in 2010 Second International Conference on Information, Process, and Knowledge Management (eKNOW), 2010,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10.1109/eKNOW.2010.20.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[3] I. Tello, C. Ruiz, and S. G. Yoo, “Analysis of COBIT 5 Process ‘DSS02 - Manage Service Requests and Incidents’ for the Service Desk Using Process Mining,” in 2018 Fifth International Conference on eDemocracy &amp; eGovernment (ICEDEG), 2018, pp. 304–310, 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10.1109/ICEDEG.2018.8372335.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[4] N. Nascimento, P. Alencar, and D. Cowan, “Self-Adaptive Large Language Model (LLM)-Based Multiagent Systems,” in 2023 IEEE International Conference on Autonomic Computing and Self-Organizing Systems Companion (ACSOS-C),2023, pp. 104–109, 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10.1109/ACSOS-C58168.2023.00048.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[5] X. Zhang, H. Xu, Z. Ba, Z. Wang, Y. Hong, J. Liu, Z. Qin, and K. Ren, “PrivacyAsst: Safeguarding User Privacy in Tool-Using Large Language Model Agents,” IEEE Transactions on Dependable and Secure Computing, vol. 21,no. 6, pp. 5242–5258, 2024,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 doi: 10.1109/TDSC.2024.3372777.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[6] SIMA Team, “SIMA 2: A Generalist Embodied Agent for Virtual Worlds,” arXiv:2512.04797, 2025, 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10.48550/arXiv.2512.04797.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[7] K.-H. Lee, I. Fischer, Y.-H. Wu, D. Marwood, S. Baluja, D. Schuurmans, and X. Chen, “Evolving Deeper LLM Thinking,” arXiv:2501.09891, 2025,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10.48550/arXiv.2501.09891.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[8] J. Richens and T. Everitt, “Robust Agents Learn Causal World Models,” in International Conference on Learning Representations (ICLR), 2024.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[9] J. Wei, Z. Sun, S. Papay, S. McKinney, J. Han, I. Fulford, H. W. Chung, A. T. Passos, W. Fedus, and A. Glaese, “BrowseComp: A Simple Yet Challenging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Benchmark for Browsing Agents,” arXiv:2504.12516, 2025,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doi: 10.48550/arXiv.2504.12516.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100" b="1" dirty="0">
                <a:latin typeface="Cambria" panose="02040503050406030204" pitchFamily="18" charset="0"/>
                <a:ea typeface="Cambria" panose="02040503050406030204" pitchFamily="18" charset="0"/>
              </a:rPr>
              <a:t>[10] OpenAI, “How Agents Are Transforming Work,” OpenAI Economic Research, Jun. 25, 2026.</a:t>
            </a:r>
            <a:endParaRPr lang="en-US" altLang="en-US" sz="11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c="http://schemas.microsoft.com/office/infopath/2007/PartnerControls" xmlns:p="http://schemas.microsoft.com/office/2006/metadata/properties" xmlns:xsi="http://www.w3.org/2001/XMLSchema-instance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versionID="89242249e9f2fc9f35c8ac40d1749aa8" ma:contentTypeDescription="Create a new document." ma:contentTypeScope="" ct:_="" ma:_="" ma:contentTypeName="Document" ma:contentTypeVersion="13" ma:contentTypeID="0x010100FA8A2C149D477E4E814B4B477F0E243C">
  <xsd:schema xmlns:ns3="b8676f30-e579-463a-a8aa-821338b00374" xmlns:xsd="http://www.w3.org/2001/XMLSchema" xmlns:p="http://schemas.microsoft.com/office/2006/metadata/properties" xmlns:xs="http://www.w3.org/2001/XMLSchema" xmlns:ns2="ed62f681-7444-4666-891e-c71d42de2ddf" targetNamespace="http://schemas.microsoft.com/office/2006/metadata/properties" ns2:_="" ma:root="true" ma:fieldsID="a661edb3eb918c130b5b038713d75e6b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pc="http://schemas.microsoft.com/office/infopath/2007/PartnerControls" xmlns:dms="http://schemas.microsoft.com/office/2006/documentManagement/types" xmlns:xs="http://www.w3.org/2001/XMLSchema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internalName="MediaServiceMetadata" ma:displayName="MediaServiceMetadata">
      <xsd:simpleType>
        <xsd:restriction base="dms:Note"/>
      </xsd:simpleType>
    </xsd:element>
    <xsd:element nillable="true" ma:hidden="true" name="MediaServiceFastMetadata" ma:index="9" ma:readOnly="true" ma:internalName="MediaServiceFastMetadata" ma:displayName="MediaServiceFastMetadata">
      <xsd:simpleType>
        <xsd:restriction base="dms:Note"/>
      </xsd:simpleType>
    </xsd:element>
    <xsd:element nillable="true" ma:hidden="true" name="MediaServiceSearchProperties" ma:index="10" ma:readOnly="true" ma:internalName="MediaServiceSearchProperties" ma:displayName="MediaServiceSearchProperties">
      <xsd:simpleType>
        <xsd:restriction base="dms:Note"/>
      </xsd:simpleType>
    </xsd:element>
    <xsd:element nillable="true" ma:hidden="true" name="MediaServiceObjectDetectorVersions" ma:index="11" ma:readOnly="true" ma:internalName="MediaServiceObjectDetectorVersions" ma:displayName="MediaServiceObjectDetectorVersions" ma:indexed="true">
      <xsd:simpleType>
        <xsd:restriction base="dms:Text"/>
      </xsd:simpleType>
    </xsd:element>
    <xsd:element nillable="true" ma:sspId="d4626717-1439-4315-99ce-985d7ba5c11b" ma:taxonomyMulti="true" ma:isKeyword="false" name="lcf76f155ced4ddcb4097134ff3c332f" ma:index="13" ma:open="true" ma:termSetId="09814cd3-568e-fe90-9814-8d621ff8fb84" ma:taxonomyFieldName="MediaServiceImageTags" ma:anchorId="fba54fb3-c3e1-fe81-a776-ca4b69148c4d" ma:readOnly="false" ma:internalName="lcf76f155ced4ddcb4097134ff3c332f" ma:displayName="Image Tags" ma:fieldId="{5cf76f15-5ced-4ddc-b409-7134ff3c332f}" ma:taxonomy="true">
      <xsd:complexType>
        <xsd:sequence>
          <xsd:element maxOccurs="1" ref="pc:Terms" minOccurs="0"/>
        </xsd:sequence>
      </xsd:complexType>
    </xsd:element>
    <xsd:element nillable="true" ma:hidden="true" name="MediaServiceDateTaken" ma:index="15" ma:readOnly="true" ma:internalName="MediaServiceDateTaken" ma:displayName="MediaServiceDateTaken" ma:indexed="true">
      <xsd:simpleType>
        <xsd:restriction base="dms:Text"/>
      </xsd:simpleType>
    </xsd:element>
    <xsd:element nillable="true" name="MediaServiceOCR" ma:index="16" ma:readOnly="true" ma:internalName="MediaServiceOCR" ma:displayName="Extracted Text">
      <xsd:simpleType>
        <xsd:restriction base="dms:Note">
          <xsd:maxLength value="255"/>
        </xsd:restriction>
      </xsd:simpleType>
    </xsd:element>
    <xsd:element nillable="true" ma:hidden="true" name="MediaServiceGenerationTime" ma:index="17" ma:readOnly="true" ma:internalName="MediaServiceGenerationTime" ma:displayName="MediaServiceGenerationTime">
      <xsd:simpleType>
        <xsd:restriction base="dms:Text"/>
      </xsd:simpleType>
    </xsd:element>
    <xsd:element nillable="true" ma:hidden="true" name="MediaServiceEventHashCode" ma:index="18" ma:readOnly="true" ma:internalName="MediaServiceEventHashCode" ma:displayName="MediaServiceEventHashCode">
      <xsd:simpleType>
        <xsd:restriction base="dms:Text"/>
      </xsd:simpleType>
    </xsd:element>
    <xsd:element nillable="true" name="MediaServiceLocation" ma:index="19" ma:readOnly="true" ma:internalName="MediaServiceLocation" ma:displayName="Location" ma:indexed="true">
      <xsd:simpleType>
        <xsd:restriction base="dms:Text"/>
      </xsd:simpleType>
    </xsd:element>
    <xsd:element nillable="true" ma:hidden="true" name="MediaLengthInSeconds" ma:index="20" ma:readOnly="true" ma:internalName="MediaLengthInSeconds" ma:displayName="MediaLengthInSeconds">
      <xsd:simpleType>
        <xsd:restriction base="dms:Unknown"/>
      </xsd:simpleType>
    </xsd:element>
  </xsd:schema>
  <xsd:schema xmlns:xsd="http://www.w3.org/2001/XMLSchema" xmlns:pc="http://schemas.microsoft.com/office/infopath/2007/PartnerControls" xmlns:dms="http://schemas.microsoft.com/office/2006/documentManagement/types" xmlns:xs="http://www.w3.org/2001/XMLSchema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illable="true" ma:hidden="true" ma:showField="CatchAllData" ma:list="{df08d022-328e-4f53-b2cf-c730c7a35dee}" name="TaxCatchAll" ma:index="14" ma:internalName="TaxCatchAll" ma:web="b8676f30-e579-463a-a8aa-821338b00374" ma:displayName="Taxonomy Catch All Column">
      <xsd:complexType>
        <xsd:complexContent>
          <xsd:extension base="dms:MultiChoiceLookup">
            <xsd:sequence>
              <xsd:element nillable="true" name="Value" maxOccurs="unbounded" minOccurs="0" type="dms:Lookup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dc="http://purl.org/dc/elements/1.1/" xmlns:xsi="http://www.w3.org/2001/XMLSchema-instance" xmlns:dcterms="http://purl.org/dc/terms/" xmlns:odoc="http://schemas.microsoft.com/internal/obd" targetNamespace="http://schemas.openxmlformats.org/package/2006/metadata/core-properties" attributeFormDefault="unqualified" blockDefault="#all" elementFormDefault="qualified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axOccurs="1" ref="dc:creator" minOccurs="0"/>
        <xsd:element maxOccurs="1" ref="dcterms:created" minOccurs="0"/>
        <xsd:element maxOccurs="1" ref="dc:identifier" minOccurs="0"/>
        <xsd:element name="contentType" ma:index="0" maxOccurs="1" minOccurs="0" ma:displayName="Content Type" type="xsd:string"/>
        <xsd:element ma:index="4" maxOccurs="1" ref="dc:title" minOccurs="0" ma:displayName="Title"/>
        <xsd:element maxOccurs="1" ref="dc:subject" minOccurs="0"/>
        <xsd:element maxOccurs="1" ref="dc:description" minOccurs="0"/>
        <xsd:element name="keywords" maxOccurs="1" minOccurs="0" type="xsd:string"/>
        <xsd:element maxOccurs="1" ref="dc:language" minOccurs="0"/>
        <xsd:element name="category" maxOccurs="1" minOccurs="0" type="xsd:string"/>
        <xsd:element name="version" maxOccurs="1" minOccurs="0" type="xsd:string"/>
        <xsd:element name="revision" maxOccurs="1" minOccurs="0" type="xsd:string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name="lastModifiedBy" maxOccurs="1" minOccurs="0" type="xsd:string"/>
        <xsd:element maxOccurs="1" ref="dcterms:modified" minOccurs="0"/>
        <xsd:element name="contentStatus" maxOccurs="1" minOccurs="0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attributeFormDefault="unqualified" elementFormDefault="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axOccurs="unbounded" ref="pc:BDCEntity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axOccurs="unbounded" ref="pc:TermInfo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1A4896-B9C1-4471-B691-16FF8CBFF7E9}">
  <ds:schemaRefs/>
</ds:datastoreItem>
</file>

<file path=customXml/itemProps2.xml><?xml version="1.0" encoding="utf-8"?>
<ds:datastoreItem xmlns:ds="http://schemas.openxmlformats.org/officeDocument/2006/customXml" ds:itemID="{80799BD1-F224-430F-A4F0-5AAD34602BBB}">
  <ds:schemaRefs/>
</ds:datastoreItem>
</file>

<file path=customXml/itemProps3.xml><?xml version="1.0" encoding="utf-8"?>
<ds:datastoreItem xmlns:ds="http://schemas.openxmlformats.org/officeDocument/2006/customXml" ds:itemID="{13D2043A-A905-44DC-A627-E0BB4B15582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6957</Words>
  <Application>WPS Writer</Application>
  <PresentationFormat>Widescreen</PresentationFormat>
  <Paragraphs>236</Paragraphs>
  <Slides>16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SimSun</vt:lpstr>
      <vt:lpstr>Wingdings</vt:lpstr>
      <vt:lpstr>Arial</vt:lpstr>
      <vt:lpstr>Verdana</vt:lpstr>
      <vt:lpstr>Bookman Old Style</vt:lpstr>
      <vt:lpstr>Thonburi</vt:lpstr>
      <vt:lpstr>Manrope ExtraBold</vt:lpstr>
      <vt:lpstr>Cambria</vt:lpstr>
      <vt:lpstr>苹方-简</vt:lpstr>
      <vt:lpstr>Microsoft YaHei</vt:lpstr>
      <vt:lpstr>汉仪旗黑</vt:lpstr>
      <vt:lpstr>Arial Unicode MS</vt:lpstr>
      <vt:lpstr>Manrope ExtraBold</vt:lpstr>
      <vt:lpstr>Verdana</vt:lpstr>
      <vt:lpstr>Wingdings</vt:lpstr>
      <vt:lpstr>宋体-简</vt:lpstr>
      <vt:lpstr>Telugu Sangam MN</vt:lpstr>
      <vt:lpstr>Tamil MN</vt:lpstr>
      <vt:lpstr>Bioinformatics</vt:lpstr>
      <vt:lpstr>PowerPoint 演示文稿</vt:lpstr>
      <vt:lpstr>PROJECT TITLE</vt:lpstr>
      <vt:lpstr>Content</vt:lpstr>
      <vt:lpstr>Problem Statement Number: </vt:lpstr>
      <vt:lpstr>PowerPoint 演示文稿</vt:lpstr>
      <vt:lpstr>PowerPoint 演示文稿</vt:lpstr>
      <vt:lpstr>Github Link</vt:lpstr>
      <vt:lpstr>Analysis of Problem Statement</vt:lpstr>
      <vt:lpstr>Analysis of Problem Statement (contd...)</vt:lpstr>
      <vt:lpstr>Analysis of Problem Statement (contd...)</vt:lpstr>
      <vt:lpstr>PowerPoint 演示文稿</vt:lpstr>
      <vt:lpstr>Timeline of the Project (Gantt Chart)</vt:lpstr>
      <vt:lpstr>PowerPoint 演示文稿</vt:lpstr>
      <vt:lpstr>PowerPoint 演示文稿</vt:lpstr>
      <vt:lpstr>References (IEEE Paper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vishnu</cp:lastModifiedBy>
  <cp:revision>42</cp:revision>
  <dcterms:created xsi:type="dcterms:W3CDTF">2026-08-26T11:47:35Z</dcterms:created>
  <dcterms:modified xsi:type="dcterms:W3CDTF">2026-08-26T11:47:35Z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  <property fmtid="{D5CDD505-2E9C-101B-9397-08002B2CF9AE}" pid="3" name="ICV">
    <vt:lpwstr>D0072D512FE25B4D29CE8E6AE3A5DC9E_43</vt:lpwstr>
  </property>
  <property fmtid="{D5CDD505-2E9C-101B-9397-08002B2CF9AE}" pid="4" name="KSOProductBuildVer">
    <vt:lpwstr>1033-12.1.23155.23155</vt:lpwstr>
  </property>
</Properties>
</file>