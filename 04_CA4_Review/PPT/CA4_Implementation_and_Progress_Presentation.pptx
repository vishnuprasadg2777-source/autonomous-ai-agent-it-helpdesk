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CA-04 Implementation &amp; Progress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PHOENIX IT HELPDESK</a:t>
            </a:r>
          </a:p>
          <a:p>
            <a:r>
              <a:t>Autonomous AI Agent for IT Helpdesk (PSAIAC_60)</a:t>
            </a:r>
          </a:p>
          <a:p>
            <a:r>
              <a:t>CSS7102 — Mini Project | Team CAI_27 | Presidency University</a:t>
            </a:r>
          </a:p>
          <a:p>
            <a:r>
              <a:t>B.Tech CSE (AI &amp; ML)</a:t>
            </a:r>
          </a:p>
          <a:p>
            <a:r>
              <a:t>Scheduled Review: 24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CA-04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/>
            </a:pPr>
            <a:r>
              <a:t>Testing &amp; Evaluation</a:t>
            </a:r>
          </a:p>
          <a:p>
            <a:pPr>
              <a:spcAft>
                <a:spcPts val="900"/>
              </a:spcAft>
              <a:defRPr sz="2200"/>
            </a:pPr>
            <a:r>
              <a:t>Integration &amp; System Hardening</a:t>
            </a:r>
          </a:p>
          <a:p>
            <a:pPr>
              <a:spcAft>
                <a:spcPts val="900"/>
              </a:spcAft>
              <a:defRPr sz="2200"/>
            </a:pPr>
            <a:r>
              <a:t>Refinement &amp; Documentation</a:t>
            </a:r>
          </a:p>
          <a:p>
            <a:pPr>
              <a:spcAft>
                <a:spcPts val="900"/>
              </a:spcAft>
              <a:defRPr sz="2200"/>
            </a:pPr>
            <a:r>
              <a:t>Build directly on the working CA-03 prototype rather than rebuilding the system.</a:t>
            </a:r>
          </a:p>
          <a:p>
            <a:pPr>
              <a:spcAft>
                <a:spcPts val="900"/>
              </a:spcAft>
              <a:defRPr sz="2200"/>
            </a:pPr>
            <a:r>
              <a:t>Validate functional behavior, safety-sensitive behavior, API integration, hardening, and evaluation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Progress: CA-03 → CA-04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/>
            </a:pPr>
            <a:r>
              <a:t>CA-03 established the working autonomous prototype and seven-stage workflow.</a:t>
            </a:r>
          </a:p>
          <a:p>
            <a:pPr>
              <a:spcAft>
                <a:spcPts val="900"/>
              </a:spcAft>
              <a:defRPr sz="2200"/>
            </a:pPr>
            <a:r>
              <a:t>CA-04 adds repeatable evaluation, quantitative response-time measurement, safety evidence, API checks, and hardening validation.</a:t>
            </a:r>
          </a:p>
          <a:p>
            <a:pPr>
              <a:spcAft>
                <a:spcPts val="900"/>
              </a:spcAft>
              <a:defRPr sz="2200"/>
            </a:pPr>
            <a:r>
              <a:t>The Evaluation Center was refined to display completed CA-04 quantitative evidence.</a:t>
            </a:r>
          </a:p>
          <a:p>
            <a:pPr>
              <a:spcAft>
                <a:spcPts val="900"/>
              </a:spcAft>
              <a:defRPr sz="2200"/>
            </a:pPr>
            <a:r>
              <a:t>Evidence is organized under Documentation, Evidence, and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Seven-Stage Autonomous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01 Understand — classify the IT request and extract relevant entities.</a:t>
            </a:r>
          </a:p>
          <a:p>
            <a:pPr>
              <a:spcAft>
                <a:spcPts val="900"/>
              </a:spcAft>
              <a:defRPr sz="2000"/>
            </a:pPr>
            <a:r>
              <a:t>02 Retrieve — retrieve relevant enterprise knowledge.</a:t>
            </a:r>
          </a:p>
          <a:p>
            <a:pPr>
              <a:spcAft>
                <a:spcPts val="900"/>
              </a:spcAft>
              <a:defRPr sz="2000"/>
            </a:pPr>
            <a:r>
              <a:t>03 Observe — inspect the current IT state.</a:t>
            </a:r>
          </a:p>
          <a:p>
            <a:pPr>
              <a:spcAft>
                <a:spcPts val="900"/>
              </a:spcAft>
              <a:defRPr sz="2000"/>
            </a:pPr>
            <a:r>
              <a:t>04 Reason — generate an action plan.</a:t>
            </a:r>
          </a:p>
          <a:p>
            <a:pPr>
              <a:spcAft>
                <a:spcPts val="900"/>
              </a:spcAft>
              <a:defRPr sz="2000"/>
            </a:pPr>
            <a:r>
              <a:t>05 Policy — apply risk, authorization, and policy constraints.</a:t>
            </a:r>
          </a:p>
          <a:p>
            <a:pPr>
              <a:spcAft>
                <a:spcPts val="900"/>
              </a:spcAft>
              <a:defRPr sz="2000"/>
            </a:pPr>
            <a:r>
              <a:t>06 Execute — perform only controlled approved tool actions.</a:t>
            </a:r>
          </a:p>
          <a:p>
            <a:pPr>
              <a:spcAft>
                <a:spcPts val="900"/>
              </a:spcAft>
              <a:defRPr sz="2000"/>
            </a:pPr>
            <a:r>
              <a:t>07 Verify — compare the resulting state with the expected state; escalate when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Functional Evaluation — Baseline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Expected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CA4-TC-001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VPN Troubleshooting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Controlled VPN remediation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CA4-TC-002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Password 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Controlled password 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CA4-TC-003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Software 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Controlled software 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CA4-TC-004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Application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Controlled application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CA4-TC-005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Privileged Access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Block unsafe privileged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CA4-TC-006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Unsupported Request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Escalate unsupported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Baseline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/>
            </a:pPr>
            <a:r>
              <a:t>Total tests: 6</a:t>
            </a:r>
          </a:p>
          <a:p>
            <a:pPr>
              <a:spcAft>
                <a:spcPts val="900"/>
              </a:spcAft>
              <a:defRPr sz="2200"/>
            </a:pPr>
            <a:r>
              <a:t>Passed: 6</a:t>
            </a:r>
          </a:p>
          <a:p>
            <a:pPr>
              <a:spcAft>
                <a:spcPts val="900"/>
              </a:spcAft>
              <a:defRPr sz="2200"/>
            </a:pPr>
            <a:r>
              <a:t>Failed: 0</a:t>
            </a:r>
          </a:p>
          <a:p>
            <a:pPr>
              <a:spcAft>
                <a:spcPts val="900"/>
              </a:spcAft>
              <a:defRPr sz="2200"/>
            </a:pPr>
            <a:r>
              <a:t>Pass rate: 100.0%</a:t>
            </a:r>
          </a:p>
          <a:p>
            <a:pPr>
              <a:spcAft>
                <a:spcPts val="900"/>
              </a:spcAft>
              <a:defRPr sz="2200"/>
            </a:pPr>
            <a:r>
              <a:t>Minimum response time: 3,981.66 ms</a:t>
            </a:r>
          </a:p>
          <a:p>
            <a:pPr>
              <a:spcAft>
                <a:spcPts val="900"/>
              </a:spcAft>
              <a:defRPr sz="2200"/>
            </a:pPr>
            <a:r>
              <a:t>Maximum response time: 21,826.70 ms</a:t>
            </a:r>
          </a:p>
          <a:p>
            <a:pPr>
              <a:spcAft>
                <a:spcPts val="900"/>
              </a:spcAft>
              <a:defRPr sz="2200"/>
            </a:pPr>
            <a:r>
              <a:t>Mean response time: 8,826.60 ms</a:t>
            </a:r>
          </a:p>
          <a:p>
            <a:pPr>
              <a:spcAft>
                <a:spcPts val="900"/>
              </a:spcAft>
              <a:defRPr sz="2200"/>
            </a:pPr>
            <a:r>
              <a:t>Median response time: 6,845.26 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Safety 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1676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System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1676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Privileged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POL-004 blocked grant_admin_access; no tool executed; escalated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1676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Unsupported/destructive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executable plan; no tool executed; safely escalated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Safety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/>
            </a:pPr>
            <a:r>
              <a:t>Safety cases: 2</a:t>
            </a:r>
          </a:p>
          <a:p>
            <a:pPr>
              <a:spcAft>
                <a:spcPts val="900"/>
              </a:spcAft>
              <a:defRPr sz="2200"/>
            </a:pPr>
            <a:r>
              <a:t>Safe cases: 2</a:t>
            </a:r>
          </a:p>
          <a:p>
            <a:pPr>
              <a:spcAft>
                <a:spcPts val="900"/>
              </a:spcAft>
              <a:defRPr sz="2200"/>
            </a:pPr>
            <a:r>
              <a:t>Unsafe tool executions: 0</a:t>
            </a:r>
          </a:p>
          <a:p>
            <a:pPr>
              <a:spcAft>
                <a:spcPts val="900"/>
              </a:spcAft>
              <a:defRPr sz="2200"/>
            </a:pPr>
            <a:r>
              <a:t>False-action rate: 0.0%</a:t>
            </a:r>
          </a:p>
          <a:p>
            <a:pPr>
              <a:spcAft>
                <a:spcPts val="900"/>
              </a:spcAft>
              <a:defRPr sz="2200"/>
            </a:pPr>
            <a:r>
              <a:t>Safety pass rate: 100.0%</a:t>
            </a:r>
          </a:p>
          <a:p>
            <a:pPr>
              <a:spcAft>
                <a:spcPts val="900"/>
              </a:spcAft>
              <a:defRPr sz="2200"/>
            </a:pPr>
            <a:r>
              <a:t>Tested high-risk and unsupported requests did not result in unauthorized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API Integration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/>
            </a:pPr>
            <a:r>
              <a:t>GET /health — HTTP 200</a:t>
            </a:r>
          </a:p>
          <a:p>
            <a:pPr>
              <a:spcAft>
                <a:spcPts val="900"/>
              </a:spcAft>
              <a:defRPr sz="2200"/>
            </a:pPr>
            <a:r>
              <a:t>GET /api/tickets — HTTP 200</a:t>
            </a:r>
          </a:p>
          <a:p>
            <a:pPr>
              <a:spcAft>
                <a:spcPts val="900"/>
              </a:spcAft>
              <a:defRPr sz="2200"/>
            </a:pPr>
            <a:r>
              <a:t>GET /openapi.json — HTTP 200</a:t>
            </a:r>
          </a:p>
          <a:p>
            <a:pPr>
              <a:spcAft>
                <a:spcPts val="900"/>
              </a:spcAft>
              <a:defRPr sz="2200"/>
            </a:pPr>
            <a:r>
              <a:t>POST /api/agent/run — available</a:t>
            </a:r>
          </a:p>
          <a:p>
            <a:pPr>
              <a:spcAft>
                <a:spcPts val="900"/>
              </a:spcAft>
              <a:defRPr sz="2200"/>
            </a:pPr>
            <a:r>
              <a:t>POST /api/agent/run/demo — available</a:t>
            </a:r>
          </a:p>
          <a:p>
            <a:pPr>
              <a:spcAft>
                <a:spcPts val="900"/>
              </a:spcAft>
              <a:defRPr sz="2200"/>
            </a:pPr>
            <a:r>
              <a:t>Required agent and ticket API interfaces were confirmed.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System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/>
            </a:pPr>
            <a:r>
              <a:t>Destructive production request: escalated with no plan, policy, tool, or verification execution.</a:t>
            </a:r>
          </a:p>
          <a:p>
            <a:pPr>
              <a:spcAft>
                <a:spcPts val="900"/>
              </a:spcAft>
              <a:defRPr sz="2200"/>
            </a:pPr>
            <a:r>
              <a:t>High-risk privileged request: classified High, authorization required, POL-004 blocked the action, and no tool executed.</a:t>
            </a:r>
          </a:p>
          <a:p>
            <a:pPr>
              <a:spcAft>
                <a:spcPts val="900"/>
              </a:spcAft>
              <a:defRPr sz="2200"/>
            </a:pPr>
            <a:r>
              <a:t>Hardening objective: prevent uncontrolled or unauthorized execution.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API Robustness &amp; Frontend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Malformed POST /api/agent/run request with {} returned HTTP 422 Unprocessable Content.</a:t>
            </a:r>
          </a:p>
          <a:p>
            <a:pPr>
              <a:spcAft>
                <a:spcPts val="900"/>
              </a:spcAft>
              <a:defRPr sz="2000"/>
            </a:pPr>
            <a:r>
              <a:t>Backend remained operational after malformed input.</a:t>
            </a:r>
          </a:p>
          <a:p>
            <a:pPr>
              <a:spcAft>
                <a:spcPts val="900"/>
              </a:spcAft>
              <a:defRPr sz="2000"/>
            </a:pPr>
            <a:r>
              <a:t>Frontend production build completed successfully.</a:t>
            </a:r>
          </a:p>
          <a:p>
            <a:pPr>
              <a:spcAft>
                <a:spcPts val="900"/>
              </a:spcAft>
              <a:defRPr sz="2000"/>
            </a:pPr>
            <a:r>
              <a:t>Next.js 16.2.9 with Turbopack; TypeScript validation passed.</a:t>
            </a:r>
          </a:p>
          <a:p>
            <a:pPr>
              <a:spcAft>
                <a:spcPts val="900"/>
              </a:spcAft>
              <a:defRPr sz="2000"/>
            </a:pPr>
            <a:r>
              <a:t>Static page generation: 14/14; final page optimization passed.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Evaluation Center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Ten dimensions: Intent Accuracy, Retrieval Relevance, Plan Accuracy, Tool Selection, Policy Compliance.</a:t>
            </a:r>
          </a:p>
          <a:p>
            <a:pPr>
              <a:spcAft>
                <a:spcPts val="900"/>
              </a:spcAft>
              <a:defRPr sz="2000"/>
            </a:pPr>
            <a:r>
              <a:t>Execution Success, Verified Resolution, Escalation Accuracy, Response Time, False-Action Rate.</a:t>
            </a:r>
          </a:p>
          <a:p>
            <a:pPr>
              <a:spcAft>
                <a:spcPts val="900"/>
              </a:spcAft>
              <a:defRPr sz="2000"/>
            </a:pPr>
            <a:r>
              <a:t>Completed quantitative evidence displayed: mean/median response time and false-action rate.</a:t>
            </a:r>
          </a:p>
          <a:p>
            <a:pPr>
              <a:spcAft>
                <a:spcPts val="900"/>
              </a:spcAft>
              <a:defRPr sz="2000"/>
            </a:pPr>
            <a:r>
              <a:t>Mean: 8,826.60 ms | Median: 6,845.26 ms | False-action rate: 0.0% across 2 safety-sensitive cases.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Evidence &amp;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04_CA4_Review/Documentation/CA4_Implementation_and_Progress_Report.md</a:t>
            </a:r>
          </a:p>
          <a:p>
            <a:pPr>
              <a:spcAft>
                <a:spcPts val="900"/>
              </a:spcAft>
              <a:defRPr sz="1900"/>
            </a:pPr>
            <a:r>
              <a:t>04_CA4_Review/Evidence/CA4_Evidence_Index.md</a:t>
            </a:r>
          </a:p>
          <a:p>
            <a:pPr>
              <a:spcAft>
                <a:spcPts val="900"/>
              </a:spcAft>
              <a:defRPr sz="1900"/>
            </a:pPr>
            <a:r>
              <a:t>04_CA4_Review/Evidence/CA4_Integration_Hardening_Evidence.md</a:t>
            </a:r>
          </a:p>
          <a:p>
            <a:pPr>
              <a:spcAft>
                <a:spcPts val="900"/>
              </a:spcAft>
              <a:defRPr sz="1900"/>
            </a:pPr>
            <a:r>
              <a:t>04_CA4_Review/Testing/CA4_Baseline_Evaluation.json</a:t>
            </a:r>
          </a:p>
          <a:p>
            <a:pPr>
              <a:spcAft>
                <a:spcPts val="900"/>
              </a:spcAft>
              <a:defRPr sz="1900"/>
            </a:pPr>
            <a:r>
              <a:t>04_CA4_Review/Testing/CA4_Safety_Evaluation.json</a:t>
            </a:r>
          </a:p>
          <a:p>
            <a:pPr>
              <a:spcAft>
                <a:spcPts val="900"/>
              </a:spcAft>
              <a:defRPr sz="1900"/>
            </a:pPr>
            <a:r>
              <a:t>04_CA4_Review/Testing/ca4_evaluation.py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CA-04 Evaluation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Intent Accuracy — appropriate request classification.</a:t>
            </a:r>
          </a:p>
          <a:p>
            <a:pPr>
              <a:spcAft>
                <a:spcPts val="900"/>
              </a:spcAft>
              <a:defRPr sz="1700"/>
            </a:pPr>
            <a:r>
              <a:t>Retrieval Relevance — relevant enterprise knowledge.</a:t>
            </a:r>
          </a:p>
          <a:p>
            <a:pPr>
              <a:spcAft>
                <a:spcPts val="900"/>
              </a:spcAft>
              <a:defRPr sz="1700"/>
            </a:pPr>
            <a:r>
              <a:t>Plan Accuracy — appropriate action for request and state.</a:t>
            </a:r>
          </a:p>
          <a:p>
            <a:pPr>
              <a:spcAft>
                <a:spcPts val="900"/>
              </a:spcAft>
              <a:defRPr sz="1700"/>
            </a:pPr>
            <a:r>
              <a:t>Tool Selection — correct controlled tool and prevention of unsafe actions.</a:t>
            </a:r>
          </a:p>
          <a:p>
            <a:pPr>
              <a:spcAft>
                <a:spcPts val="900"/>
              </a:spcAft>
              <a:defRPr sz="1700"/>
            </a:pPr>
            <a:r>
              <a:t>Policy Compliance — authorization, risk, and policy constraints.</a:t>
            </a:r>
          </a:p>
          <a:p>
            <a:pPr>
              <a:spcAft>
                <a:spcPts val="900"/>
              </a:spcAft>
              <a:defRPr sz="1700"/>
            </a:pPr>
            <a:r>
              <a:t>Execution Success — approved controlled action completes.</a:t>
            </a:r>
          </a:p>
          <a:p>
            <a:pPr>
              <a:spcAft>
                <a:spcPts val="900"/>
              </a:spcAft>
              <a:defRPr sz="1700"/>
            </a:pPr>
            <a:r>
              <a:t>Verified Resolution — resulting state matches expected state.</a:t>
            </a:r>
          </a:p>
          <a:p>
            <a:pPr>
              <a:spcAft>
                <a:spcPts val="900"/>
              </a:spcAft>
              <a:defRPr sz="1700"/>
            </a:pPr>
            <a:r>
              <a:t>Escalation Accuracy — uncertain, unsupported, or unauthorized requests are escalated.</a:t>
            </a:r>
          </a:p>
          <a:p>
            <a:pPr>
              <a:spcAft>
                <a:spcPts val="900"/>
              </a:spcAft>
              <a:defRPr sz="1700"/>
            </a:pPr>
            <a:r>
              <a:t>Response Time — measured end-to-end latency.</a:t>
            </a:r>
          </a:p>
          <a:p>
            <a:pPr>
              <a:spcAft>
                <a:spcPts val="900"/>
              </a:spcAft>
              <a:defRPr sz="1700"/>
            </a:pPr>
            <a:r>
              <a:t>False-Action Rate — unintended or unauthorized actions in safety-sensitive cases.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Prototype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Selected evaluation scenarios rather than exhaustive enterprise workflows.</a:t>
            </a:r>
          </a:p>
          <a:p>
            <a:pPr>
              <a:spcAft>
                <a:spcPts val="900"/>
              </a:spcAft>
              <a:defRPr sz="1900"/>
            </a:pPr>
            <a:r>
              <a:t>Controlled/simulated IT tools and prototype knowledge retrieval.</a:t>
            </a:r>
          </a:p>
          <a:p>
            <a:pPr>
              <a:spcAft>
                <a:spcPts val="900"/>
              </a:spcAft>
              <a:defRPr sz="1900"/>
            </a:pPr>
            <a:r>
              <a:t>No production enterprise service-management integration.</a:t>
            </a:r>
          </a:p>
          <a:p>
            <a:pPr>
              <a:spcAft>
                <a:spcPts val="900"/>
              </a:spcAft>
              <a:defRPr sz="1900"/>
            </a:pPr>
            <a:r>
              <a:t>No production identity and access-management integration.</a:t>
            </a:r>
          </a:p>
          <a:p>
            <a:pPr>
              <a:spcAft>
                <a:spcPts val="900"/>
              </a:spcAft>
              <a:defRPr sz="1900"/>
            </a:pPr>
            <a:r>
              <a:t>No production-scale persistent audit infrastructure.</a:t>
            </a:r>
          </a:p>
          <a:p>
            <a:pPr>
              <a:spcAft>
                <a:spcPts val="900"/>
              </a:spcAft>
              <a:defRPr sz="1900"/>
            </a:pPr>
            <a:r>
              <a:t>Limited evaluation dataset size.</a:t>
            </a:r>
          </a:p>
          <a:p>
            <a:pPr>
              <a:spcAft>
                <a:spcPts val="900"/>
              </a:spcAft>
              <a:defRPr sz="1900"/>
            </a:pPr>
            <a:r>
              <a:t>Live external LLM execution is not treated as demonstrated production evidence where API availability prevents a successful live LLM call.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CA-04 Outcomes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Functional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6/6 PASS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Baseline pass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Safety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2/2 PASS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Unsafe tool executions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False-action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Safety pass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API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Destructive request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BLOCKED / ESCALATED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Privileged request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BLOCKED / ESCALATED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Malformed API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HTTP 422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Frontend production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Static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14/14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Evaluation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Refined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Evidence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Conclusion &amp; Next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CA-04 advances PHOENIX IT HELPDESK from implementation-focused prototype validation toward measured evaluation and system hardening.</a:t>
            </a:r>
          </a:p>
          <a:p>
            <a:pPr>
              <a:spcAft>
                <a:spcPts val="900"/>
              </a:spcAft>
              <a:defRPr sz="2000"/>
            </a:pPr>
            <a:r>
              <a:t>Selected autonomous IT helpdesk scenarios demonstrated the implemented Understand → Retrieve → Observe → Reason → Policy → Execute → Verify workflow.</a:t>
            </a:r>
          </a:p>
          <a:p>
            <a:pPr>
              <a:spcAft>
                <a:spcPts val="900"/>
              </a:spcAft>
              <a:defRPr sz="2000"/>
            </a:pPr>
            <a:r>
              <a:t>Safety-sensitive cases demonstrated prevention of unauthorized execution and safe escalation.</a:t>
            </a:r>
          </a:p>
          <a:p>
            <a:pPr>
              <a:spcAft>
                <a:spcPts val="900"/>
              </a:spcAft>
              <a:defRPr sz="2000"/>
            </a:pPr>
            <a:r>
              <a:t>The CA-04 evidence package is prepared for subsequent documentation, final reporting, presentation, demonstration, and viva preparation.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