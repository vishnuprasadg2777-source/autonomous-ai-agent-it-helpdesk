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74" r:id="rId3"/>
    <p:sldId id="256" r:id="rId4"/>
    <p:sldId id="257" r:id="rId6"/>
    <p:sldId id="269" r:id="rId7"/>
    <p:sldId id="268" r:id="rId8"/>
    <p:sldId id="273" r:id="rId9"/>
    <p:sldId id="272" r:id="rId10"/>
    <p:sldId id="271" r:id="rId11"/>
    <p:sldId id="270" r:id="rId12"/>
    <p:sldId id="265" r:id="rId13"/>
    <p:sldId id="266" r:id="rId14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57888" y="514350"/>
            <a:ext cx="34292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8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8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8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32790" y="862965"/>
            <a:ext cx="10363200" cy="139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sz="2400" b="1">
                <a:solidFill>
                  <a:srgbClr val="000000"/>
                </a:solidFill>
                <a:latin typeface="Cambria"/>
              </a:rPr>
              <a:t>AUTONOMOUS AI AGENT
FOR IT HELPDESK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Cambria"/>
              </a:rPr>
              <a:t>PSAIAC_60</a:t>
            </a:r>
            <a:endParaRPr sz="1300" b="1">
              <a:solidFill>
                <a:srgbClr val="000000"/>
              </a:solidFill>
              <a:latin typeface="Cambria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Cambria"/>
              </a:rPr>
              <a:t>CSS7102 — Mini Project | Review 1 (CA-01)</a:t>
            </a:r>
            <a:endParaRPr sz="1050" b="0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32790" y="2077085"/>
            <a:ext cx="397065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CAI_28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495562" y="2698345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20221CAI0154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VISHNU PRASAD GOTUR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20231CAi0139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SHIVARAJ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22410" y="2489845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                       Mr. Parth Naik  </a:t>
            </a:r>
            <a:endParaRPr lang="en-US" altLang="en-US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                       Project Guide</a:t>
            </a:r>
            <a:endParaRPr lang="en-US" altLang="en-US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28986" y="310594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GB" sz="20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57785" y="4510405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Name of the Program:</a:t>
            </a:r>
            <a:r>
              <a:rPr lang="en-US" altLang="en-US" sz="17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B.Tech Computer Science and Engineering (Artificial Intelligence &amp; Machine Learning)</a:t>
            </a:r>
            <a:endParaRPr lang="en-US" alt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Name of the HoD: Dr. Zafar Ali Khan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Name of the Program Project Coordinator: </a:t>
            </a:r>
            <a:r>
              <a:rPr lang="en-US" alt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   Ms. Suma N G</a:t>
            </a:r>
            <a:endParaRPr lang="en-US" alt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lvl="0" algn="l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Dr. Sampath A </a:t>
            </a: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PSAIAC_60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alt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Presidency School of Artificial Intelligence and Advanced Computing (PSAIAC)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alt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l">
              <a:lnSpc>
                <a:spcPct val="16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alt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 teams spend 40% of time on repetitive L1 tickets. Industry needs an autonomous AI agent that resolves password resets, software installs, and access requests without human involvement.</a:t>
            </a:r>
            <a:endParaRPr lang="en-US" alt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8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Difficulty Level: </a:t>
            </a:r>
            <a:r>
              <a:rPr lang="en-US" alt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Not specified</a:t>
            </a:r>
            <a:endParaRPr lang="en-US" alt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Link: </a:t>
            </a:r>
            <a:r>
              <a:rPr lang="en-US" altLang="en-US" sz="19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https://github.com/vishnuprasadg2777-source/autonomous-ai-it-helpdesk</a:t>
            </a:r>
            <a:endParaRPr lang="en-US" altLang="en-US" b="1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Frontend: React / Next.js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Backend: Python, FastAPI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AI: Large Language Model (LLM)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Agent: AI Agent / Agent Orchestration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Knowledge: RAG (Retrieval-Augmented Generation)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Vector Database: FAISS / Chroma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Database: PostgreSQL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Authentication: RBAC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* Version Control: Git, GitHub</a:t>
            </a: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25450" y="762000"/>
            <a:ext cx="11334115" cy="557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  <a:endParaRPr lang="en-US" sz="8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Operating System: macOS / Windows / Linux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Programming Language: Python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Backend Framework: FastAPI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Frontend: React / Next.js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AI/LLM: LLM API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Knowledge Retrieval: RAG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Vector Database: FAISS / Chroma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Database: PostgreSQL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Development Tools: VS Code, Git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* Version Control: GitHub</a:t>
            </a:r>
            <a:endParaRPr lang="en-US" altLang="en-US" sz="3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400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  <a:endParaRPr lang="en-US" altLang="en-US" sz="6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* Processor: Modern multi-core CPU</a:t>
            </a:r>
            <a:endParaRPr lang="en-US" alt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* RAM: Minimum 8 GB</a:t>
            </a:r>
            <a:endParaRPr lang="en-US" alt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* Storage: Minimum 10 GB available</a:t>
            </a:r>
            <a:endParaRPr lang="en-US" alt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* Internet: Stable internet connection</a:t>
            </a:r>
            <a:endParaRPr lang="en-US" alt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* GPU: Not mandatory for initial development; cloud/API-based LLM can be used</a:t>
            </a:r>
            <a:endParaRPr lang="en-US" altLang="en-US" sz="7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86410" y="762000"/>
            <a:ext cx="11144250" cy="533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Current Challenges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* </a:t>
            </a: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High volume of repetitive Level-1 (L1) IT support tickets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Manual handling of routine requests consumes IT support time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Repetitive workflows require consistent policy-based handling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Cases outside the supported scope still require human intervention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Target IT Helpdesk Workflows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1. Password Reset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2. Software Installation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3. Access Request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AI-Agent Approach</a:t>
            </a:r>
            <a:endParaRPr lang="en-US" altLang="en-US" sz="6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Understand the user’s request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Identify the required IT service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Retrieve relevant IT knowledge/policies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200" dirty="0">
                <a:latin typeface="Cambria" panose="02040503050406030204" pitchFamily="18" charset="0"/>
                <a:ea typeface="Cambria" panose="02040503050406030204" pitchFamily="18" charset="0"/>
              </a:rPr>
              <a:t>* Determine the appropriate authorized workflow</a:t>
            </a: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5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12192000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005840"/>
            <a:ext cx="10668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[1] A. Y. Wang et al., “A Survey on Large Language Model based Autonomous Agents,” IEEE TPAMI, 2024.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[2] S. Yao et al., “ReAct: Synergizing Reasoning and Acting in Language Models,” ICLR, 2023.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[3] T. Schick et al., “Toolformer: Language Models Can Teach Themselves to Use Tools,” NeurIPS, vol. 36, 2023.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[4] Z. Gao et al., “Retrieval-Augmented Generation for Large Language Models: A Survey,” arXiv:2312.10997, 2023.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[5] Y. Guo et al., “Large Language Model based Multi-Agents: A Survey of Progress and Challenges,” ICASSP, 2024.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Version="13" ma:versionID="89242249e9f2fc9f35c8ac40d1749aa8" ma:contentTypeID="0x010100FA8A2C149D477E4E814B4B477F0E243C" ct:_="" ma:_="" ma:contentTypeName="Document" ma:contentTypeScope="" ma:contentTypeDescription="Create a new document.">
  <xsd:schema xmlns:xs="http://www.w3.org/2001/XMLSchema" xmlns:ns2="ed62f681-7444-4666-891e-c71d42de2ddf" xmlns:ns3="b8676f30-e579-463a-a8aa-821338b00374" xmlns:xsd="http://www.w3.org/2001/XMLSchema" xmlns:p="http://schemas.microsoft.com/office/2006/metadata/properties" ma:fieldsID="a661edb3eb918c130b5b038713d75e6b" ns3:_="" targetNamespace="http://schemas.microsoft.com/office/2006/metadata/properties" ns2:_="" ma:root="true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xsd="http://www.w3.org/2001/XMLSchema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ma:hidden="true" nillable="true" name="MediaServiceMetadata" ma:index="8" ma:displayName="MediaServiceMetadata" ma:internalName="MediaServiceMetadata" ma:readOnly="true">
      <xsd:simpleType>
        <xsd:restriction base="dms:Note"/>
      </xsd:simpleType>
    </xsd:element>
    <xsd:element ma:hidden="true" nillable="true" name="MediaServiceFastMetadata" ma:index="9" ma:displayName="MediaServiceFastMetadata" ma:internalName="MediaServiceFastMetadata" ma:readOnly="true">
      <xsd:simpleType>
        <xsd:restriction base="dms:Note"/>
      </xsd:simpleType>
    </xsd:element>
    <xsd:element ma:hidden="true" nillable="true" name="MediaServiceSearchProperties" ma:index="10" ma:displayName="MediaServiceSearchProperties" ma:internalName="MediaServiceSearchProperties" ma:readOnly="true">
      <xsd:simpleType>
        <xsd:restriction base="dms:Note"/>
      </xsd:simpleType>
    </xsd:element>
    <xsd:element ma:hidden="true" nillable="true" ma:indexed="true" name="MediaServiceObjectDetectorVersions" ma:index="11" ma:displayName="MediaServiceObjectDetectorVersions" ma:internalName="MediaServiceObjectDetectorVersions" ma:readOnly="true">
      <xsd:simpleType>
        <xsd:restriction base="dms:Text"/>
      </xsd:simpleType>
    </xsd:element>
    <xsd:element ma:taxonomyFieldName="MediaServiceImageTags" ma:taxonomy="true" ma:fieldId="{5cf76f15-5ced-4ddc-b409-7134ff3c332f}" ma:isKeyword="false" nillable="true" ma:open="true" name="lcf76f155ced4ddcb4097134ff3c332f" ma:taxonomyMulti="true" ma:sspId="d4626717-1439-4315-99ce-985d7ba5c11b" ma:termSetId="09814cd3-568e-fe90-9814-8d621ff8fb84" ma:index="13" ma:displayName="Image Tags" ma:internalName="lcf76f155ced4ddcb4097134ff3c332f" ma:anchorId="fba54fb3-c3e1-fe81-a776-ca4b69148c4d" ma:readOnly="false">
      <xsd:complexType>
        <xsd:sequence>
          <xsd:element ref="pc:Terms" maxOccurs="1" minOccurs="0"/>
        </xsd:sequence>
      </xsd:complexType>
    </xsd:element>
    <xsd:element ma:hidden="true" nillable="true" ma:indexed="true" name="MediaServiceDateTaken" ma:index="15" ma:displayName="MediaServiceDateTaken" ma:internalName="MediaServiceDateTaken" ma:readOnly="true">
      <xsd:simpleType>
        <xsd:restriction base="dms:Text"/>
      </xsd:simpleType>
    </xsd:element>
    <xsd:element nillable="true" name="MediaServiceOCR" ma:index="16" ma:displayName="Extracted Text" ma:internalName="MediaServiceOCR" ma:readOnly="true">
      <xsd:simpleType>
        <xsd:restriction base="dms:Note">
          <xsd:maxLength value="255"/>
        </xsd:restriction>
      </xsd:simpleType>
    </xsd:element>
    <xsd:element ma:hidden="true" nillable="true" name="MediaServiceGenerationTime" ma:index="17" ma:displayName="MediaServiceGenerationTime" ma:internalName="MediaServiceGenerationTime" ma:readOnly="true">
      <xsd:simpleType>
        <xsd:restriction base="dms:Text"/>
      </xsd:simpleType>
    </xsd:element>
    <xsd:element ma:hidden="true" nillable="true" name="MediaServiceEventHashCode" ma:index="18" ma:displayName="MediaServiceEventHashCode" ma:internalName="MediaServiceEventHashCode" ma:readOnly="true">
      <xsd:simpleType>
        <xsd:restriction base="dms:Text"/>
      </xsd:simpleType>
    </xsd:element>
    <xsd:element nillable="true" ma:indexed="true" name="MediaServiceLocation" ma:index="19" ma:displayName="Location" ma:internalName="MediaServiceLocation" ma:readOnly="true">
      <xsd:simpleType>
        <xsd:restriction base="dms:Text"/>
      </xsd:simpleType>
    </xsd:element>
    <xsd:element ma:hidden="true" nillable="true" name="MediaLengthInSeconds" ma:index="20" ma:displayName="MediaLengthInSeconds" ma:internalName="MediaLengthInSeconds" ma:readOnly="true">
      <xsd:simpleType>
        <xsd:restriction base="dms:Unknown"/>
      </xsd:simpleType>
    </xsd:element>
  </xsd:schema>
  <xsd:schema xmlns:dms="http://schemas.microsoft.com/office/2006/documentManagement/types" xmlns:xs="http://www.w3.org/2001/XMLSchema" xmlns:xsd="http://www.w3.org/2001/XMLSchema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ma:web="b8676f30-e579-463a-a8aa-821338b00374" ma:showField="CatchAllData" ma:hidden="true" ma:list="{df08d022-328e-4f53-b2cf-c730c7a35dee}" nillable="true" name="TaxCatchAll" ma:index="14" ma:displayName="Taxonomy Catch All Column" ma:internalName="TaxCatchAll">
      <xsd:complexType>
        <xsd:complexContent>
          <xsd:extension base="dms:MultiChoiceLookup">
            <xsd:sequence>
              <xsd:element type="dms:Lookup" nillable="true" name="Value" maxOccurs="unbounded" minOccurs="0"/>
            </xsd:sequence>
          </xsd:extension>
        </xsd:complexContent>
      </xsd:complexType>
    </xsd:element>
  </xsd:schema>
  <xsd:schema xmlns:xsi="http://www.w3.org/2001/XMLSchema-instance" xmlns:dcterms="http://purl.org/dc/terms/" xmlns="http://schemas.openxmlformats.org/package/2006/metadata/core-properties" xmlns:odoc="http://schemas.microsoft.com/internal/obd" xmlns:xsd="http://www.w3.org/2001/XMLSchema" xmlns:dc="http://purl.org/dc/elements/1.1/" targetNamespace="http://schemas.openxmlformats.org/package/2006/metadata/core-properties" blockDefault="#all" elementFormDefault="qualified" attributeFormDefault="un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type="xsd:string" name="contentType" ma:index="0" ma:displayName="Content Type" maxOccurs="1" minOccurs="0"/>
        <xsd:element ref="dc:title" ma:index="4" ma:displayName="Title" maxOccurs="1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xs="http://www.w3.org/2001/XMLSchema" xmlns:pc="http://schemas.microsoft.com/office/infopath/2007/PartnerControls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1A4896-B9C1-4471-B691-16FF8CBFF7E9}">
  <ds:schemaRefs/>
</ds:datastoreItem>
</file>

<file path=customXml/itemProps2.xml><?xml version="1.0" encoding="utf-8"?>
<ds:datastoreItem xmlns:ds="http://schemas.openxmlformats.org/officeDocument/2006/customXml" ds:itemID="{80799BD1-F224-430F-A4F0-5AAD34602BBB}">
  <ds:schemaRefs/>
</ds:datastoreItem>
</file>

<file path=customXml/itemProps3.xml><?xml version="1.0" encoding="utf-8"?>
<ds:datastoreItem xmlns:ds="http://schemas.openxmlformats.org/officeDocument/2006/customXml" ds:itemID="{13D2043A-A905-44DC-A627-E0BB4B15582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3425</Words>
  <Application>WPS Presentation</Application>
  <PresentationFormat>Widescreen</PresentationFormat>
  <Paragraphs>152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Arial</vt:lpstr>
      <vt:lpstr>Verdana</vt:lpstr>
      <vt:lpstr>Bookman Old Style</vt:lpstr>
      <vt:lpstr>Thonburi</vt:lpstr>
      <vt:lpstr>Manrope ExtraBold</vt:lpstr>
      <vt:lpstr>Cambria</vt:lpstr>
      <vt:lpstr>Cambria</vt:lpstr>
      <vt:lpstr>苹方-简</vt:lpstr>
      <vt:lpstr>Microsoft YaHei</vt:lpstr>
      <vt:lpstr>汉仪旗黑</vt:lpstr>
      <vt:lpstr>Arial Unicode MS</vt:lpstr>
      <vt:lpstr>Manrope ExtraBold</vt:lpstr>
      <vt:lpstr>Verdana</vt:lpstr>
      <vt:lpstr>Wingdings</vt:lpstr>
      <vt:lpstr>宋体-简</vt:lpstr>
      <vt:lpstr>Bioinformatics</vt:lpstr>
      <vt:lpstr>PowerPoint 演示文稿</vt:lpstr>
      <vt:lpstr>CSS7102 — Mini Project | Review 1 (CA-01)</vt:lpstr>
      <vt:lpstr>Content</vt:lpstr>
      <vt:lpstr>Problem Statement Number: </vt:lpstr>
      <vt:lpstr>Github Link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</cp:lastModifiedBy>
  <cp:revision>42</cp:revision>
  <dcterms:created xsi:type="dcterms:W3CDTF">2026-08-12T17:02:36Z</dcterms:created>
  <dcterms:modified xsi:type="dcterms:W3CDTF">2026-08-12T17:02:36Z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  <property fmtid="{D5CDD505-2E9C-101B-9397-08002B2CF9AE}" pid="3" name="ICV">
    <vt:lpwstr>83164F32CA40407890A67C6AD11CD7C7_42</vt:lpwstr>
  </property>
  <property fmtid="{D5CDD505-2E9C-101B-9397-08002B2CF9AE}" pid="4" name="KSOProductBuildVer">
    <vt:lpwstr>1033-12.1.23155.23155</vt:lpwstr>
  </property>
</Properties>
</file>