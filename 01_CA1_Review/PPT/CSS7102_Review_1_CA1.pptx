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jpeg" ContentType="image/jpeg"/>
  <Default Extension="JPG" ContentType="image/.jp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274" r:id="rId3"/>
    <p:sldId id="256" r:id="rId4"/>
    <p:sldId id="257" r:id="rId6"/>
    <p:sldId id="269" r:id="rId7"/>
    <p:sldId id="268" r:id="rId8"/>
    <p:sldId id="273" r:id="rId9"/>
    <p:sldId id="272" r:id="rId10"/>
    <p:sldId id="271" r:id="rId11"/>
    <p:sldId id="270" r:id="rId12"/>
    <p:sldId id="265" r:id="rId13"/>
    <p:sldId id="266" r:id="rId14"/>
  </p:sldIdLst>
  <p:sldSz cx="12192000" cy="6858000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7690726-49DA-4552-BDEB-330DD8EA8BD9}" styleName="Table_0">
    <a:wholeTbl>
      <a:tcTxStyle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customXml" Target="../customXml/item3.xml"/><Relationship Id="rId2" Type="http://schemas.openxmlformats.org/officeDocument/2006/relationships/theme" Target="theme/theme1.xml"/><Relationship Id="rId19" Type="http://schemas.openxmlformats.org/officeDocument/2006/relationships/customXml" Target="../customXml/item2.xml"/><Relationship Id="rId18" Type="http://schemas.openxmlformats.org/officeDocument/2006/relationships/customXml" Target="../customXml/item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857888" y="514350"/>
            <a:ext cx="3429225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 panose="020B0804030504040204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8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8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3.pn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 sz="2800" b="1" i="0" u="none" strike="noStrike" cap="none">
                <a:solidFill>
                  <a:srgbClr val="FF0000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3"/>
          <a:srcRect b="18046"/>
          <a:stretch>
            <a:fillRect/>
          </a:stretch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32790" y="862965"/>
            <a:ext cx="10363200" cy="1394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sz="2400" b="1">
                <a:solidFill>
                  <a:srgbClr val="000000"/>
                </a:solidFill>
                <a:latin typeface="Cambria"/>
              </a:rPr>
              <a:t>AUTONOMOUS AI AGENT
FOR IT HELPDESK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Cambria"/>
              </a:rPr>
              <a:t>PSAIAC_60</a:t>
            </a:r>
            <a:endParaRPr sz="1300" b="1">
              <a:solidFill>
                <a:srgbClr val="000000"/>
              </a:solidFill>
              <a:latin typeface="Cambria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Cambria"/>
              </a:rPr>
              <a:t>CSS7102 — Mini Project | Review 1 (CA-01)</a:t>
            </a:r>
            <a:endParaRPr sz="1050" b="0">
              <a:solidFill>
                <a:srgbClr val="000000"/>
              </a:solidFill>
              <a:latin typeface="Cambria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32790" y="2077085"/>
            <a:ext cx="397065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r>
              <a:rPr lang="en-US" altLang="en-US" dirty="0">
                <a:latin typeface="Cambria" panose="02040503050406030204" pitchFamily="18" charset="0"/>
                <a:ea typeface="Cambria" panose="02040503050406030204" pitchFamily="18" charset="0"/>
              </a:rPr>
              <a:t>CAI_28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/>
        </p:nvGraphicFramePr>
        <p:xfrm>
          <a:off x="495562" y="2698345"/>
          <a:ext cx="5418675" cy="2194620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/>
                <a:gridCol w="3333675"/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20221CAI0154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     VISHNU PRASAD GOTUR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20231CAi0139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   SHIVARAJ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22410" y="2489845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lnSpc>
                <a:spcPct val="5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US" altLang="en-US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                    Mr. Parth Naik  </a:t>
            </a:r>
            <a:endParaRPr lang="en-US" altLang="en-US"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US" altLang="en-US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                    Project Guide</a:t>
            </a:r>
            <a:endParaRPr lang="en-US" altLang="en-US"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28986" y="310594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GB" sz="20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CSS7102- Mini  Project Review-1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-57785" y="4510405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Program:</a:t>
            </a:r>
            <a:r>
              <a:rPr lang="en-US" altLang="en-US" sz="17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B.Tech Computer Science and Engineering (Artificial Intelligence &amp; Machine Learning)</a:t>
            </a:r>
            <a:endParaRPr lang="en-US" altLang="en-US" sz="2000" b="1" i="0" u="none" strike="noStrike" cap="none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HoD: Dr. Zafar Ali Khan</a:t>
            </a:r>
            <a:endParaRPr lang="en-US" sz="2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Program Project Coordinator: </a:t>
            </a:r>
            <a:r>
              <a:rPr lang="en-US" alt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Ms. Suma N G</a:t>
            </a:r>
            <a:endParaRPr lang="en-US" altLang="en-US" sz="2000" b="1" i="0" u="none" strike="noStrike" cap="none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lvl="0" algn="l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Dr. Sampath A </a:t>
            </a:r>
            <a:r>
              <a:rPr lang="en-US" sz="2000" b="1" i="0" u="none" strike="noStrike" cap="none" dirty="0" smtClean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Problem Statement Number: </a:t>
            </a:r>
            <a:r>
              <a:rPr lang="en-US" altLang="en-US" dirty="0">
                <a:latin typeface="Cambria" panose="02040503050406030204" pitchFamily="18" charset="0"/>
                <a:ea typeface="Cambria" panose="02040503050406030204" pitchFamily="18" charset="0"/>
              </a:rPr>
              <a:t>PSAIAC_60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Organization: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Presidency School of Artificial Intelligence and Advanced Computing (PSAIAC)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Category (Hardware / Software / Both) 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Software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>
              <a:lnSpc>
                <a:spcPct val="16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Description 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alt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T teams spend 40% of time on repetitive L1 tickets. Industry needs an autonomous AI agent that resolves password resets, software installs, and access requests without human involvement.</a:t>
            </a:r>
            <a:endParaRPr lang="en-US" alt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>
              <a:lnSpc>
                <a:spcPct val="18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Difficulty Level: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Not specified</a:t>
            </a:r>
            <a:endParaRPr lang="en-US" alt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Google Shape;115;p17"/>
          <p:cNvSpPr txBox="1"/>
          <p:nvPr/>
        </p:nvSpPr>
        <p:spPr>
          <a:xfrm>
            <a:off x="965200" y="12954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Google Shape;115;p17"/>
          <p:cNvSpPr txBox="1"/>
          <p:nvPr/>
        </p:nvSpPr>
        <p:spPr>
          <a:xfrm>
            <a:off x="812800" y="1143000"/>
            <a:ext cx="10668000" cy="4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Github link provided should have public access permission.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Github Link: </a:t>
            </a:r>
            <a:r>
              <a:rPr lang="en-US" altLang="en-US" sz="1900" b="1" dirty="0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https://github.com/vishnuprasadg2777-source/autonomous-ai-it-helpdesk</a:t>
            </a:r>
            <a:endParaRPr lang="en-US" altLang="en-US" b="1" dirty="0">
              <a:solidFill>
                <a:srgbClr val="00B0F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Technology Stack Components: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Frontend: React / Next.js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Backend: Python, FastAPI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AI: Large Language Model (LLM)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Agent: AI Agent / Agent Orchestration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Knowledge: RAG (Retrieval-Augmented Generation)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Vector Database: FAISS / Chroma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Database: PostgreSQL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Authentication: RBAC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Version Control: Git, GitHub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425450" y="762000"/>
            <a:ext cx="11334115" cy="5577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/>
          </a:bodyPr>
          <a:lstStyle/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8000" b="1" dirty="0">
                <a:latin typeface="Cambria" panose="02040503050406030204" pitchFamily="18" charset="0"/>
                <a:ea typeface="Cambria" panose="02040503050406030204" pitchFamily="18" charset="0"/>
              </a:rPr>
              <a:t>Software and Hardware Requirements: </a:t>
            </a:r>
            <a:endParaRPr lang="en-US" sz="8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Software Requirements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Operating System: macOS / Windows / Linux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Programming Language: Python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Backend Framework: FastAPI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Frontend: React / Next.js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AI/LLM: LLM API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Knowledge Retrieval: RAG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Vector Database: FAISS / Chroma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Database: PostgreSQL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Development Tools: VS Code, Git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Version Control: GitHub</a:t>
            </a:r>
            <a:endParaRPr lang="en-US" altLang="en-US" sz="35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400" b="1" dirty="0">
                <a:latin typeface="Cambria" panose="02040503050406030204" pitchFamily="18" charset="0"/>
                <a:ea typeface="Cambria" panose="02040503050406030204" pitchFamily="18" charset="0"/>
              </a:rPr>
              <a:t>Hardware Requirements</a:t>
            </a:r>
            <a:endParaRPr lang="en-US" altLang="en-US" sz="6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Processor: Modern multi-core CPU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RAM: Minimum 8 GB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Storage: Minimum 10 GB available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Internet: Stable internet connection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GPU: Not mandatory for initial development; cloud/API-based LLM can be used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486410" y="762000"/>
            <a:ext cx="11144250" cy="533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/>
          </a:bodyPr>
          <a:lstStyle/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Current Challenges</a:t>
            </a:r>
            <a:endParaRPr lang="en-US" alt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4400" dirty="0">
                <a:latin typeface="Cambria" panose="02040503050406030204" pitchFamily="18" charset="0"/>
                <a:ea typeface="Cambria" panose="02040503050406030204" pitchFamily="18" charset="0"/>
              </a:rPr>
              <a:t>* </a:t>
            </a: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High volume of repetitive Level-1 (L1) IT support tickets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Manual handling of routine requests consumes IT support time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Repetitive workflows require consistent policy-based handling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Cases outside the supported scope still require human intervention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Target IT Helpdesk Workflows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1. Password Reset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2. Software Installation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3. Access Request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Proposed AI-Agent Approach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Understand the user’s request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Identify the required IT service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Retrieve relevant IT knowledge/policies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Determine the appropriate authorized workflow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 (Gantt Chart)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270"/>
            <a:ext cx="12192000" cy="68554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References (IEEE Paper format)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5" name="Google Shape;145;p22"/>
          <p:cNvSpPr txBox="1">
            <a:spLocks noGrp="1"/>
          </p:cNvSpPr>
          <p:nvPr>
            <p:ph type="body" idx="1"/>
          </p:nvPr>
        </p:nvSpPr>
        <p:spPr>
          <a:xfrm>
            <a:off x="812800" y="1005840"/>
            <a:ext cx="1066800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[1] A. D. Firmansyah and A. P. Subriadi, “IT Service Desk Model Literature Review: Benefits and Challenges,” in 2022 International Seminar on Application for Technology of Information and Communication (iSemantic), 2022, pp. 172–177, doi: 10.1109/iSemantic55962.2022.9920439.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[2] M. Jäntti and J. Kalliokoski, “Identifying Knowledge Management Challenges in a Service Desk: A Case Study,” in 2010 Second International Conference on Information, Process, and Knowledge Management (eKNOW), 2010, doi: 10.1109/eKNOW.2010.20.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[3] I. Tello, C. Ruiz, and S. G. Yoo, “Analysis of COBIT 5 Process ‘DSS02 - Manage Service Requests and Incidents’ for the Service Desk Using Process Mining,” in 2018 Fifth International Conference on eDemocracy &amp; eGovernment (ICEDEG), 2018, pp. 304–310, doi: 10.1109/ICEDEG.2018.8372335.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[4] N. Nascimento, P. Alencar, and D. Cowan, “Self-Adaptive Large Language Model (LLM)-Based Multiagent Systems,” in 2023 IEEE International Conference on Autonomic Computing and Self-Organizing Systems (ACSOS), 2023.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[5] X. Zhang, H. Xu, Z. Ba, Z. Wang, Y. Hong, J. Liu, Z. Qin, and K. Ren, “PrivacyAsst: Safeguarding User Privacy in Tool-Using Large Language Model Agents,” IEEE Transactions on Dependable and Secure Computing, vol. 21, no. 6, pp. 5242–5258, 2024, doi: 10.1109/TDSC.2024.3372777.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2811" y="1441315"/>
            <a:ext cx="3893305" cy="39354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c="http://schemas.microsoft.com/office/infopath/2007/PartnerControls" xmlns:xsi="http://www.w3.org/2001/XMLSchema-instance" xmlns:p="http://schemas.microsoft.com/office/2006/metadata/propertie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ma:versionID="89242249e9f2fc9f35c8ac40d1749aa8" ct:_="" ma:_="" ma:contentTypeScope="" ma:contentTypeDescription="Create a new document." ma:contentTypeID="0x010100FA8A2C149D477E4E814B4B477F0E243C" ma:contentTypeVersion="13" ma:contentTypeName="Document">
  <xsd:schema xmlns:ns3="b8676f30-e579-463a-a8aa-821338b00374" xmlns:xsd="http://www.w3.org/2001/XMLSchema" xmlns:p="http://schemas.microsoft.com/office/2006/metadata/properties" xmlns:xs="http://www.w3.org/2001/XMLSchema" xmlns:ns2="ed62f681-7444-4666-891e-c71d42de2ddf" ns2:_="" ma:fieldsID="a661edb3eb918c130b5b038713d75e6b" targetNamespace="http://schemas.microsoft.com/office/2006/metadata/properties" ns3:_="" ma:root="true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SearchProperties"/>
                <xsd:element minOccurs="0" ref="ns2:MediaServiceObjectDetectorVersions"/>
                <xsd:element minOccurs="0" ref="ns2:lcf76f155ced4ddcb4097134ff3c332f"/>
                <xsd:element minOccurs="0" ref="ns3:TaxCatchAll"/>
                <xsd:element minOccurs="0" ref="ns2:MediaServiceDateTaken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Location"/>
                <xsd:element minOccurs="0" ref="ns2:MediaLengthInSeconds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dms="http://schemas.microsoft.com/office/2006/documentManagement/types" xmlns:xs="http://www.w3.org/2001/XMLSchema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ma:hidden="true" ma:internalName="MediaServiceMetadata" ma:readOnly="true" name="MediaServiceMetadata" ma:index="8" ma:displayName="MediaServiceMetadata" nillable="true">
      <xsd:simpleType>
        <xsd:restriction base="dms:Note"/>
      </xsd:simpleType>
    </xsd:element>
    <xsd:element ma:hidden="true" ma:internalName="MediaServiceFastMetadata" ma:readOnly="true" name="MediaServiceFastMetadata" ma:index="9" ma:displayName="MediaServiceFastMetadata" nillable="true">
      <xsd:simpleType>
        <xsd:restriction base="dms:Note"/>
      </xsd:simpleType>
    </xsd:element>
    <xsd:element ma:hidden="true" ma:internalName="MediaServiceSearchProperties" ma:readOnly="true" name="MediaServiceSearchProperties" ma:index="10" ma:displayName="MediaServiceSearchProperties" nillable="true">
      <xsd:simpleType>
        <xsd:restriction base="dms:Note"/>
      </xsd:simpleType>
    </xsd:element>
    <xsd:element ma:hidden="true" ma:internalName="MediaServiceObjectDetectorVersions" ma:readOnly="true" name="MediaServiceObjectDetectorVersions" ma:index="11" ma:displayName="MediaServiceObjectDetectorVersions" ma:indexed="true" nillable="true">
      <xsd:simpleType>
        <xsd:restriction base="dms:Text"/>
      </xsd:simpleType>
    </xsd:element>
    <xsd:element ma:internalName="lcf76f155ced4ddcb4097134ff3c332f" ma:readOnly="false" name="lcf76f155ced4ddcb4097134ff3c332f" ma:index="13" ma:taxonomyFieldName="MediaServiceImageTags" ma:displayName="Image Tags" ma:taxonomy="true" ma:isKeyword="false" ma:open="true" ma:termSetId="09814cd3-568e-fe90-9814-8d621ff8fb84" ma:fieldId="{5cf76f15-5ced-4ddc-b409-7134ff3c332f}" ma:taxonomyMulti="true" nillable="true" ma:sspId="d4626717-1439-4315-99ce-985d7ba5c11b" ma:anchorId="fba54fb3-c3e1-fe81-a776-ca4b69148c4d">
      <xsd:complexType>
        <xsd:sequence>
          <xsd:element maxOccurs="1" minOccurs="0" ref="pc:Terms"/>
        </xsd:sequence>
      </xsd:complexType>
    </xsd:element>
    <xsd:element ma:hidden="true" ma:internalName="MediaServiceDateTaken" ma:readOnly="true" name="MediaServiceDateTaken" ma:index="15" ma:displayName="MediaServiceDateTaken" ma:indexed="true" nillable="true">
      <xsd:simpleType>
        <xsd:restriction base="dms:Text"/>
      </xsd:simpleType>
    </xsd:element>
    <xsd:element ma:internalName="MediaServiceOCR" ma:readOnly="true" name="MediaServiceOCR" ma:index="16" ma:displayName="Extracted Text" nillable="true">
      <xsd:simpleType>
        <xsd:restriction base="dms:Note">
          <xsd:maxLength value="255"/>
        </xsd:restriction>
      </xsd:simpleType>
    </xsd:element>
    <xsd:element ma:hidden="true" ma:internalName="MediaServiceGenerationTime" ma:readOnly="true" name="MediaServiceGenerationTime" ma:index="17" ma:displayName="MediaServiceGenerationTime" nillable="true">
      <xsd:simpleType>
        <xsd:restriction base="dms:Text"/>
      </xsd:simpleType>
    </xsd:element>
    <xsd:element ma:hidden="true" ma:internalName="MediaServiceEventHashCode" ma:readOnly="true" name="MediaServiceEventHashCode" ma:index="18" ma:displayName="MediaServiceEventHashCode" nillable="true">
      <xsd:simpleType>
        <xsd:restriction base="dms:Text"/>
      </xsd:simpleType>
    </xsd:element>
    <xsd:element ma:internalName="MediaServiceLocation" ma:readOnly="true" name="MediaServiceLocation" ma:index="19" ma:displayName="Location" ma:indexed="true" nillable="true">
      <xsd:simpleType>
        <xsd:restriction base="dms:Text"/>
      </xsd:simpleType>
    </xsd:element>
    <xsd:element ma:hidden="true" ma:internalName="MediaLengthInSeconds" ma:readOnly="true" name="MediaLengthInSeconds" ma:index="20" ma:displayName="MediaLengthInSeconds" nillable="true">
      <xsd:simpleType>
        <xsd:restriction base="dms:Unknown"/>
      </xsd:simpleType>
    </xsd:element>
  </xsd:schema>
  <xsd:schema xmlns:pc="http://schemas.microsoft.com/office/infopath/2007/PartnerControls" xmlns:xsd="http://www.w3.org/2001/XMLSchema" xmlns:dms="http://schemas.microsoft.com/office/2006/documentManagement/types" xmlns:xs="http://www.w3.org/2001/XMLSchema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ma:hidden="true" ma:internalName="TaxCatchAll" name="TaxCatchAll" ma:index="14" ma:showField="CatchAllData" ma:displayName="Taxonomy Catch All Column" ma:list="{df08d022-328e-4f53-b2cf-c730c7a35dee}" ma:web="b8676f30-e579-463a-a8aa-821338b00374" nillable="true">
      <xsd:complexType>
        <xsd:complexContent>
          <xsd:extension base="dms:MultiChoiceLookup">
            <xsd:sequence>
              <xsd:element name="Value" maxOccurs="unbounded" minOccurs="0" type="dms:Lookup" nillable="true"/>
            </xsd:sequence>
          </xsd:extension>
        </xsd:complexContent>
      </xsd:complexType>
    </xsd:element>
  </xsd:schema>
  <xsd:schema xmlns:dcterms="http://purl.org/dc/terms/" xmlns:dc="http://purl.org/dc/elements/1.1/" xmlns:xsd="http://www.w3.org/2001/XMLSchema" xmlns:xsi="http://www.w3.org/2001/XMLSchema-instance" xmlns:odoc="http://schemas.microsoft.com/internal/obd" xmlns="http://schemas.openxmlformats.org/package/2006/metadata/core-properties" targetNamespace="http://schemas.openxmlformats.org/package/2006/metadata/core-properties" blockDefault="#all" elementFormDefault="qualified" attributeFormDefault="unqualified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name="contentType" ma:index="0" ma:displayName="Content Type" maxOccurs="1" minOccurs="0" type="xsd:string"/>
        <xsd:element ma:index="4" ma:displayName="Title" maxOccurs="1" minOccurs="0" ref="dc:title"/>
        <xsd:element maxOccurs="1" minOccurs="0" ref="dc:subject"/>
        <xsd:element maxOccurs="1" minOccurs="0" ref="dc:description"/>
        <xsd:element name="keywords" maxOccurs="1" minOccurs="0" type="xsd:string"/>
        <xsd:element maxOccurs="1" minOccurs="0" ref="dc:language"/>
        <xsd:element name="category" maxOccurs="1" minOccurs="0" type="xsd:string"/>
        <xsd:element name="version" maxOccurs="1" minOccurs="0" type="xsd:string"/>
        <xsd:element name="revision" maxOccurs="1" minOccurs="0" type="xsd:string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name="lastModifiedBy" maxOccurs="1" minOccurs="0" type="xsd:string"/>
        <xsd:element maxOccurs="1" minOccurs="0" ref="dcterms:modified"/>
        <xsd:element name="contentStatus" maxOccurs="1" minOccurs="0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1A4896-B9C1-4471-B691-16FF8CBFF7E9}">
  <ds:schemaRefs/>
</ds:datastoreItem>
</file>

<file path=customXml/itemProps2.xml><?xml version="1.0" encoding="utf-8"?>
<ds:datastoreItem xmlns:ds="http://schemas.openxmlformats.org/officeDocument/2006/customXml" ds:itemID="{80799BD1-F224-430F-A4F0-5AAD34602BBB}">
  <ds:schemaRefs/>
</ds:datastoreItem>
</file>

<file path=customXml/itemProps3.xml><?xml version="1.0" encoding="utf-8"?>
<ds:datastoreItem xmlns:ds="http://schemas.openxmlformats.org/officeDocument/2006/customXml" ds:itemID="{13D2043A-A905-44DC-A627-E0BB4B15582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4212</Words>
  <Application>WPS Presentation</Application>
  <PresentationFormat>Widescreen</PresentationFormat>
  <Paragraphs>152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7" baseType="lpstr">
      <vt:lpstr>Arial</vt:lpstr>
      <vt:lpstr>SimSun</vt:lpstr>
      <vt:lpstr>Wingdings</vt:lpstr>
      <vt:lpstr>Arial</vt:lpstr>
      <vt:lpstr>Verdana</vt:lpstr>
      <vt:lpstr>Bookman Old Style</vt:lpstr>
      <vt:lpstr>Thonburi</vt:lpstr>
      <vt:lpstr>Manrope ExtraBold</vt:lpstr>
      <vt:lpstr>Cambria</vt:lpstr>
      <vt:lpstr>Cambria</vt:lpstr>
      <vt:lpstr>苹方-简</vt:lpstr>
      <vt:lpstr>Microsoft YaHei</vt:lpstr>
      <vt:lpstr>汉仪旗黑</vt:lpstr>
      <vt:lpstr>Arial Unicode MS</vt:lpstr>
      <vt:lpstr>宋体-简</vt:lpstr>
      <vt:lpstr>Bioinformatics</vt:lpstr>
      <vt:lpstr>PowerPoint 演示文稿</vt:lpstr>
      <vt:lpstr>CSS7102 — Mini Project | Review 1 (CA-01)</vt:lpstr>
      <vt:lpstr>Content</vt:lpstr>
      <vt:lpstr>Problem Statement Number: PSAIAC_60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vishnu</cp:lastModifiedBy>
  <cp:revision>43</cp:revision>
  <dcterms:created xsi:type="dcterms:W3CDTF">2026-08-14T06:04:18Z</dcterms:created>
  <dcterms:modified xsi:type="dcterms:W3CDTF">2026-08-14T06:04:18Z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  <property fmtid="{D5CDD505-2E9C-101B-9397-08002B2CF9AE}" pid="3" name="ICV">
    <vt:lpwstr>83164F32CA40407890A67C6AD11CD7C7_42</vt:lpwstr>
  </property>
  <property fmtid="{D5CDD505-2E9C-101B-9397-08002B2CF9AE}" pid="4" name="KSOProductBuildVer">
    <vt:lpwstr>1033-12.1.23155.23155</vt:lpwstr>
  </property>
</Properties>
</file>