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502920" cy="50292"/>
          </a:xfrm>
          <a:prstGeom prst="rect">
            <a:avLst/>
          </a:prstGeom>
          <a:solidFill>
            <a:srgbClr val="6CA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A0A8B4"/>
                </a:solidFill>
                <a:latin typeface="Helvetica Neue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2F4F7"/>
                </a:solidFill>
                <a:latin typeface="Helvetica Neue"/>
              </a:defRPr>
            </a:pPr>
            <a:r>
              <a:t>PHOENIX IT HELPDESK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2704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8B4"/>
                </a:solidFill>
                <a:latin typeface="Helvetica Neue"/>
              </a:defRPr>
            </a:pPr>
            <a:r>
              <a:t>Autonomous AI Agent for IT Helpdesk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331720"/>
            <a:ext cx="10698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0">
                <a:solidFill>
                  <a:srgbClr val="F2F4F7"/>
                </a:solidFill>
                <a:latin typeface="Helvetica Neue"/>
              </a:defRPr>
            </a:pPr>
            <a:r>
              <a:t>CSS7102 Mini Project • Review 3 (CA-03)</a:t>
            </a:r>
            <a:br/>
            <a:r>
              <a:t>PSAIAC_60 • Team CAI27</a:t>
            </a:r>
            <a:br/>
            <a:r>
              <a:t>Vishnu Prasad Gotur — 20221CAI0154</a:t>
            </a:r>
            <a:br/>
            <a:r>
              <a:t>Shivaraj — 20231CAI0139</a:t>
            </a:r>
            <a:br/>
            <a:r>
              <a:t>Guide: Mr. Parth Naik, Assistant Professor</a:t>
            </a:r>
            <a:br/>
            <a:br/>
            <a:r>
              <a:t>Understand. Decide. Act. Verify.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A0A8B4"/>
                </a:solidFill>
                <a:latin typeface="Helvetica Neue"/>
              </a:defRPr>
            </a:pPr>
            <a:r>
              <a:t>PHOENIX IT HELPDESK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0" y="6510528"/>
            <a:ext cx="1691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A0A8B4"/>
                </a:solidFill>
                <a:latin typeface="Helvetica Neue"/>
              </a:defRPr>
            </a:pPr>
            <a:r>
              <a:t>CSS7102 • CA-03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502920" cy="50292"/>
          </a:xfrm>
          <a:prstGeom prst="rect">
            <a:avLst/>
          </a:prstGeom>
          <a:solidFill>
            <a:srgbClr val="6CA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A0A8B4"/>
                </a:solidFill>
                <a:latin typeface="Helvetica Neue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2F4F7"/>
                </a:solidFill>
                <a:latin typeface="Helvetica Neue"/>
              </a:defRPr>
            </a:pPr>
            <a:r>
              <a:t>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2704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8B4"/>
                </a:solidFill>
                <a:latin typeface="Helvetica Neue"/>
              </a:defRPr>
            </a:pPr>
            <a:r>
              <a:t>Transition from CA-02 research/design to a working prototype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212848"/>
            <a:ext cx="11064240" cy="891540"/>
          </a:xfrm>
          <a:prstGeom prst="roundRect">
            <a:avLst/>
          </a:prstGeom>
          <a:solidFill>
            <a:srgbClr val="171B22"/>
          </a:solidFill>
          <a:ln w="10160">
            <a:solidFill>
              <a:srgbClr val="303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2331720"/>
            <a:ext cx="10735056" cy="708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2F4F7"/>
                </a:solidFill>
                <a:latin typeface="Helvetica Neue"/>
              </a:defRPr>
            </a:pPr>
            <a:r>
              <a:t>Implement the controlled autonomous workflow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332988"/>
            <a:ext cx="11064240" cy="891540"/>
          </a:xfrm>
          <a:prstGeom prst="roundRect">
            <a:avLst/>
          </a:prstGeom>
          <a:solidFill>
            <a:srgbClr val="171B22"/>
          </a:solidFill>
          <a:ln w="10160">
            <a:solidFill>
              <a:srgbClr val="303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3451860"/>
            <a:ext cx="10735056" cy="708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F2F4F7"/>
                </a:solidFill>
                <a:latin typeface="Helvetica Neue"/>
              </a:defRPr>
            </a:pPr>
            <a:r>
              <a:t>Integrate understanding, retrieval, IT state, planning, policy, tools and verification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453128"/>
            <a:ext cx="11064240" cy="891540"/>
          </a:xfrm>
          <a:prstGeom prst="roundRect">
            <a:avLst/>
          </a:prstGeom>
          <a:solidFill>
            <a:srgbClr val="171B22"/>
          </a:solidFill>
          <a:ln w="10160">
            <a:solidFill>
              <a:srgbClr val="303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4572000"/>
            <a:ext cx="10735056" cy="708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2F4F7"/>
                </a:solidFill>
                <a:latin typeface="Helvetica Neue"/>
              </a:defRPr>
            </a:pPr>
            <a:r>
              <a:t>Demonstrate Level-1 remediation plus safe escalation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5573268"/>
            <a:ext cx="11064240" cy="891540"/>
          </a:xfrm>
          <a:prstGeom prst="roundRect">
            <a:avLst/>
          </a:prstGeom>
          <a:solidFill>
            <a:srgbClr val="171B22"/>
          </a:solidFill>
          <a:ln w="10160">
            <a:solidFill>
              <a:srgbClr val="303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5692140"/>
            <a:ext cx="10735056" cy="708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2F4F7"/>
                </a:solidFill>
                <a:latin typeface="Helvetica Neue"/>
              </a:defRPr>
            </a:pPr>
            <a:r>
              <a:t>Validate implementation through functional tests and runtime 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052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A0A8B4"/>
                </a:solidFill>
                <a:latin typeface="Helvetica Neue"/>
              </a:defRPr>
            </a:pPr>
            <a:r>
              <a:t>PHOENIX IT HELPDESK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0" y="6510528"/>
            <a:ext cx="1691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A0A8B4"/>
                </a:solidFill>
                <a:latin typeface="Helvetica Neue"/>
              </a:defRPr>
            </a:pPr>
            <a:r>
              <a:t>CSS7102 • CA-03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502920" cy="50292"/>
          </a:xfrm>
          <a:prstGeom prst="rect">
            <a:avLst/>
          </a:prstGeom>
          <a:solidFill>
            <a:srgbClr val="6CA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A0A8B4"/>
                </a:solidFill>
                <a:latin typeface="Helvetica Neue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2F4F7"/>
                </a:solidFill>
                <a:latin typeface="Helvetica Neue"/>
              </a:defRPr>
            </a:pPr>
            <a: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2704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8B4"/>
                </a:solidFill>
                <a:latin typeface="Helvetica Neue"/>
              </a:defRPr>
            </a:pPr>
            <a:r>
              <a:t>Repetitive L1 IT requests need automation — but automation must be bounded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212848"/>
            <a:ext cx="11064240" cy="914400"/>
          </a:xfrm>
          <a:prstGeom prst="roundRect">
            <a:avLst/>
          </a:prstGeom>
          <a:solidFill>
            <a:srgbClr val="171B22"/>
          </a:solidFill>
          <a:ln w="10160">
            <a:solidFill>
              <a:srgbClr val="303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2331720"/>
            <a:ext cx="1073505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F2F4F7"/>
                </a:solidFill>
                <a:latin typeface="Helvetica Neue"/>
              </a:defRPr>
            </a:pPr>
            <a:r>
              <a:t>Password resets, VPN issues, software installation and access requests consume support effort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355848"/>
            <a:ext cx="11064240" cy="914400"/>
          </a:xfrm>
          <a:prstGeom prst="roundRect">
            <a:avLst/>
          </a:prstGeom>
          <a:solidFill>
            <a:srgbClr val="171B22"/>
          </a:solidFill>
          <a:ln w="10160">
            <a:solidFill>
              <a:srgbClr val="303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3474720"/>
            <a:ext cx="1073505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2F4F7"/>
                </a:solidFill>
                <a:latin typeface="Helvetica Neue"/>
              </a:defRPr>
            </a:pPr>
            <a:r>
              <a:t>Unrestricted automation can create authorization, security and false-action risks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498848"/>
            <a:ext cx="11064240" cy="914400"/>
          </a:xfrm>
          <a:prstGeom prst="roundRect">
            <a:avLst/>
          </a:prstGeom>
          <a:solidFill>
            <a:srgbClr val="171B22"/>
          </a:solidFill>
          <a:ln w="10160">
            <a:solidFill>
              <a:srgbClr val="303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4617720"/>
            <a:ext cx="1073505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2F4F7"/>
                </a:solidFill>
                <a:latin typeface="Helvetica Neue"/>
              </a:defRPr>
            </a:pPr>
            <a:r>
              <a:t>Policy, controlled execution and verification are therefore first-class requirements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1052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A0A8B4"/>
                </a:solidFill>
                <a:latin typeface="Helvetica Neue"/>
              </a:defRPr>
            </a:pPr>
            <a:r>
              <a:t>PHOENIX IT HELPDESK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60" y="6510528"/>
            <a:ext cx="1691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A0A8B4"/>
                </a:solidFill>
                <a:latin typeface="Helvetica Neue"/>
              </a:defRPr>
            </a:pPr>
            <a:r>
              <a:t>CSS7102 • CA-03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502920" cy="50292"/>
          </a:xfrm>
          <a:prstGeom prst="rect">
            <a:avLst/>
          </a:prstGeom>
          <a:solidFill>
            <a:srgbClr val="6CA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A0A8B4"/>
                </a:solidFill>
                <a:latin typeface="Helvetica Neue"/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2F4F7"/>
                </a:solidFill>
                <a:latin typeface="Helvetica Neue"/>
              </a:defRPr>
            </a:pPr>
            <a:r>
              <a:t>Controlled Autonomy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2704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8B4"/>
                </a:solidFill>
                <a:latin typeface="Helvetica Neue"/>
              </a:defRPr>
            </a:pPr>
            <a:r>
              <a:t>Autonomy is permitted only inside an explicit safety boundary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212848"/>
            <a:ext cx="5417820" cy="914400"/>
          </a:xfrm>
          <a:prstGeom prst="roundRect">
            <a:avLst/>
          </a:prstGeom>
          <a:solidFill>
            <a:srgbClr val="171B22"/>
          </a:solidFill>
          <a:ln w="10160">
            <a:solidFill>
              <a:srgbClr val="303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2331720"/>
            <a:ext cx="508863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2F4F7"/>
                </a:solidFill>
                <a:latin typeface="Helvetica Neue"/>
              </a:defRPr>
            </a:pPr>
            <a:r>
              <a:t>Understand and retrieve enterprise knowledge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49340" y="2212848"/>
            <a:ext cx="5417820" cy="914400"/>
          </a:xfrm>
          <a:prstGeom prst="roundRect">
            <a:avLst/>
          </a:prstGeom>
          <a:solidFill>
            <a:srgbClr val="171B22"/>
          </a:solidFill>
          <a:ln w="10160">
            <a:solidFill>
              <a:srgbClr val="303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13931" y="2331720"/>
            <a:ext cx="508863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2F4F7"/>
                </a:solidFill>
                <a:latin typeface="Helvetica Neue"/>
              </a:defRPr>
            </a:pPr>
            <a:r>
              <a:t>Observe current IT state before acting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355848"/>
            <a:ext cx="5417820" cy="914400"/>
          </a:xfrm>
          <a:prstGeom prst="roundRect">
            <a:avLst/>
          </a:prstGeom>
          <a:solidFill>
            <a:srgbClr val="171B22"/>
          </a:solidFill>
          <a:ln w="10160">
            <a:solidFill>
              <a:srgbClr val="303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3474720"/>
            <a:ext cx="508863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2F4F7"/>
                </a:solidFill>
                <a:latin typeface="Helvetica Neue"/>
              </a:defRPr>
            </a:pPr>
            <a:r>
              <a:t>Propose and evaluate a remediation plan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49340" y="3355848"/>
            <a:ext cx="5417820" cy="914400"/>
          </a:xfrm>
          <a:prstGeom prst="roundRect">
            <a:avLst/>
          </a:prstGeom>
          <a:solidFill>
            <a:srgbClr val="171B22"/>
          </a:solidFill>
          <a:ln w="10160">
            <a:solidFill>
              <a:srgbClr val="303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13931" y="3474720"/>
            <a:ext cx="508863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2F4F7"/>
                </a:solidFill>
                <a:latin typeface="Helvetica Neue"/>
              </a:defRPr>
            </a:pPr>
            <a:r>
              <a:t>Apply policy, authorization and risk checks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498848"/>
            <a:ext cx="5417820" cy="914400"/>
          </a:xfrm>
          <a:prstGeom prst="roundRect">
            <a:avLst/>
          </a:prstGeom>
          <a:solidFill>
            <a:srgbClr val="171B22"/>
          </a:solidFill>
          <a:ln w="10160">
            <a:solidFill>
              <a:srgbClr val="303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" y="4617720"/>
            <a:ext cx="508863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2F4F7"/>
                </a:solidFill>
                <a:latin typeface="Helvetica Neue"/>
              </a:defRPr>
            </a:pPr>
            <a:r>
              <a:t>Execute only allowlisted controlled tools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49340" y="4498848"/>
            <a:ext cx="5417820" cy="914400"/>
          </a:xfrm>
          <a:prstGeom prst="roundRect">
            <a:avLst/>
          </a:prstGeom>
          <a:solidFill>
            <a:srgbClr val="171B22"/>
          </a:solidFill>
          <a:ln w="10160">
            <a:solidFill>
              <a:srgbClr val="303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13931" y="4617720"/>
            <a:ext cx="508863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2F4F7"/>
                </a:solidFill>
                <a:latin typeface="Helvetica Neue"/>
              </a:defRPr>
            </a:pPr>
            <a:r>
              <a:t>Verify the resulting state; escalate when unsafe or unsuccessful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1052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A0A8B4"/>
                </a:solidFill>
                <a:latin typeface="Helvetica Neue"/>
              </a:defRPr>
            </a:pPr>
            <a:r>
              <a:t>PHOENIX IT HELPDESK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66960" y="6510528"/>
            <a:ext cx="1691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A0A8B4"/>
                </a:solidFill>
                <a:latin typeface="Helvetica Neue"/>
              </a:defRPr>
            </a:pPr>
            <a:r>
              <a:t>CSS7102 • CA-03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502920" cy="50292"/>
          </a:xfrm>
          <a:prstGeom prst="rect">
            <a:avLst/>
          </a:prstGeom>
          <a:solidFill>
            <a:srgbClr val="6CA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A0A8B4"/>
                </a:solidFill>
                <a:latin typeface="Helvetica Neue"/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2F4F7"/>
                </a:solidFill>
                <a:latin typeface="Helvetica Neue"/>
              </a:defRPr>
            </a:pPr>
            <a:r>
              <a:t>Seven-Stage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2704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8B4"/>
                </a:solidFill>
                <a:latin typeface="Helvetica Neue"/>
              </a:defRPr>
            </a:pPr>
            <a:r>
              <a:t>The implemented runtime pipeline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212848"/>
            <a:ext cx="5417820" cy="891540"/>
          </a:xfrm>
          <a:prstGeom prst="roundRect">
            <a:avLst/>
          </a:prstGeom>
          <a:solidFill>
            <a:srgbClr val="171B22"/>
          </a:solidFill>
          <a:ln w="10160">
            <a:solidFill>
              <a:srgbClr val="303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2331720"/>
            <a:ext cx="5088636" cy="708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2F4F7"/>
                </a:solidFill>
                <a:latin typeface="Helvetica Neue"/>
              </a:defRPr>
            </a:pPr>
            <a:r>
              <a:t>01  Understand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49340" y="2212848"/>
            <a:ext cx="5417820" cy="891540"/>
          </a:xfrm>
          <a:prstGeom prst="roundRect">
            <a:avLst/>
          </a:prstGeom>
          <a:solidFill>
            <a:srgbClr val="171B22"/>
          </a:solidFill>
          <a:ln w="10160">
            <a:solidFill>
              <a:srgbClr val="303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13931" y="2331720"/>
            <a:ext cx="5088636" cy="708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2F4F7"/>
                </a:solidFill>
                <a:latin typeface="Helvetica Neue"/>
              </a:defRPr>
            </a:pPr>
            <a:r>
              <a:t>02  Retrieve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332988"/>
            <a:ext cx="5417820" cy="891540"/>
          </a:xfrm>
          <a:prstGeom prst="roundRect">
            <a:avLst/>
          </a:prstGeom>
          <a:solidFill>
            <a:srgbClr val="171B22"/>
          </a:solidFill>
          <a:ln w="10160">
            <a:solidFill>
              <a:srgbClr val="303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3451860"/>
            <a:ext cx="5088636" cy="708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2F4F7"/>
                </a:solidFill>
                <a:latin typeface="Helvetica Neue"/>
              </a:defRPr>
            </a:pPr>
            <a:r>
              <a:t>03  Observe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49340" y="3332988"/>
            <a:ext cx="5417820" cy="891540"/>
          </a:xfrm>
          <a:prstGeom prst="roundRect">
            <a:avLst/>
          </a:prstGeom>
          <a:solidFill>
            <a:srgbClr val="171B22"/>
          </a:solidFill>
          <a:ln w="10160">
            <a:solidFill>
              <a:srgbClr val="303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13931" y="3451860"/>
            <a:ext cx="5088636" cy="708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2F4F7"/>
                </a:solidFill>
                <a:latin typeface="Helvetica Neue"/>
              </a:defRPr>
            </a:pPr>
            <a:r>
              <a:t>04  Reason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453128"/>
            <a:ext cx="5417820" cy="891540"/>
          </a:xfrm>
          <a:prstGeom prst="roundRect">
            <a:avLst/>
          </a:prstGeom>
          <a:solidFill>
            <a:srgbClr val="171B22"/>
          </a:solidFill>
          <a:ln w="10160">
            <a:solidFill>
              <a:srgbClr val="303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" y="4572000"/>
            <a:ext cx="5088636" cy="708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2F4F7"/>
                </a:solidFill>
                <a:latin typeface="Helvetica Neue"/>
              </a:defRPr>
            </a:pPr>
            <a:r>
              <a:t>05  Policy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49340" y="4453128"/>
            <a:ext cx="5417820" cy="891540"/>
          </a:xfrm>
          <a:prstGeom prst="roundRect">
            <a:avLst/>
          </a:prstGeom>
          <a:solidFill>
            <a:srgbClr val="171B22"/>
          </a:solidFill>
          <a:ln w="10160">
            <a:solidFill>
              <a:srgbClr val="303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13931" y="4572000"/>
            <a:ext cx="5088636" cy="708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2F4F7"/>
                </a:solidFill>
                <a:latin typeface="Helvetica Neue"/>
              </a:defRPr>
            </a:pPr>
            <a:r>
              <a:t>06  Execute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5573268"/>
            <a:ext cx="5417820" cy="891540"/>
          </a:xfrm>
          <a:prstGeom prst="roundRect">
            <a:avLst/>
          </a:prstGeom>
          <a:solidFill>
            <a:srgbClr val="171B22"/>
          </a:solidFill>
          <a:ln w="10160">
            <a:solidFill>
              <a:srgbClr val="303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" y="5692140"/>
            <a:ext cx="5088636" cy="708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2F4F7"/>
                </a:solidFill>
                <a:latin typeface="Helvetica Neue"/>
              </a:defRPr>
            </a:pPr>
            <a:r>
              <a:t>07  Verify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1052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A0A8B4"/>
                </a:solidFill>
                <a:latin typeface="Helvetica Neue"/>
              </a:defRPr>
            </a:pPr>
            <a:r>
              <a:t>PHOENIX IT HELPDESK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6510528"/>
            <a:ext cx="1691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A0A8B4"/>
                </a:solidFill>
                <a:latin typeface="Helvetica Neue"/>
              </a:defRPr>
            </a:pPr>
            <a:r>
              <a:t>CSS7102 • CA-03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502920" cy="50292"/>
          </a:xfrm>
          <a:prstGeom prst="rect">
            <a:avLst/>
          </a:prstGeom>
          <a:solidFill>
            <a:srgbClr val="6CA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A0A8B4"/>
                </a:solidFill>
                <a:latin typeface="Helvetica Neue"/>
              </a:defRPr>
            </a:pPr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2F4F7"/>
                </a:solidFill>
                <a:latin typeface="Helvetica Neue"/>
              </a:defRPr>
            </a:pPr>
            <a: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2704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8B4"/>
                </a:solidFill>
                <a:latin typeface="Helvetica Neue"/>
              </a:defRPr>
            </a:pPr>
            <a:r>
              <a:t>End-to-end controlled agent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212848"/>
            <a:ext cx="5417820" cy="914400"/>
          </a:xfrm>
          <a:prstGeom prst="roundRect">
            <a:avLst/>
          </a:prstGeom>
          <a:solidFill>
            <a:srgbClr val="171B22"/>
          </a:solidFill>
          <a:ln w="10160">
            <a:solidFill>
              <a:srgbClr val="303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2331720"/>
            <a:ext cx="508863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2F4F7"/>
                </a:solidFill>
                <a:latin typeface="Helvetica Neue"/>
              </a:defRPr>
            </a:pPr>
            <a:r>
              <a:t>User / UI → Request Processing → Agent Controller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49340" y="2212848"/>
            <a:ext cx="5417820" cy="914400"/>
          </a:xfrm>
          <a:prstGeom prst="roundRect">
            <a:avLst/>
          </a:prstGeom>
          <a:solidFill>
            <a:srgbClr val="171B22"/>
          </a:solidFill>
          <a:ln w="10160">
            <a:solidFill>
              <a:srgbClr val="303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13931" y="2331720"/>
            <a:ext cx="508863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2F4F7"/>
                </a:solidFill>
                <a:latin typeface="Helvetica Neue"/>
              </a:defRPr>
            </a:pPr>
            <a:r>
              <a:t>Knowledge Retrieval + IT World Model → Reasoning &amp; Planning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355848"/>
            <a:ext cx="5417820" cy="914400"/>
          </a:xfrm>
          <a:prstGeom prst="roundRect">
            <a:avLst/>
          </a:prstGeom>
          <a:solidFill>
            <a:srgbClr val="171B22"/>
          </a:solidFill>
          <a:ln w="10160">
            <a:solidFill>
              <a:srgbClr val="303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3474720"/>
            <a:ext cx="508863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2F4F7"/>
                </a:solidFill>
                <a:latin typeface="Helvetica Neue"/>
              </a:defRPr>
            </a:pPr>
            <a:r>
              <a:t>Candidate Plan Evaluation → Policy / Authorization / Risk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49340" y="3355848"/>
            <a:ext cx="5417820" cy="914400"/>
          </a:xfrm>
          <a:prstGeom prst="roundRect">
            <a:avLst/>
          </a:prstGeom>
          <a:solidFill>
            <a:srgbClr val="171B22"/>
          </a:solidFill>
          <a:ln w="10160">
            <a:solidFill>
              <a:srgbClr val="303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13931" y="3474720"/>
            <a:ext cx="508863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2F4F7"/>
                </a:solidFill>
                <a:latin typeface="Helvetica Neue"/>
              </a:defRPr>
            </a:pPr>
            <a:r>
              <a:t>Controlled Tool Gateway → Simulated IT Environment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498848"/>
            <a:ext cx="5417820" cy="914400"/>
          </a:xfrm>
          <a:prstGeom prst="roundRect">
            <a:avLst/>
          </a:prstGeom>
          <a:solidFill>
            <a:srgbClr val="171B22"/>
          </a:solidFill>
          <a:ln w="10160">
            <a:solidFill>
              <a:srgbClr val="303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" y="4617720"/>
            <a:ext cx="508863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2F4F7"/>
                </a:solidFill>
                <a:latin typeface="Helvetica Neue"/>
              </a:defRPr>
            </a:pPr>
            <a:r>
              <a:t>Observation → Verification → Resolve / Re-plan / Human Escalation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49340" y="4498848"/>
            <a:ext cx="5417820" cy="914400"/>
          </a:xfrm>
          <a:prstGeom prst="roundRect">
            <a:avLst/>
          </a:prstGeom>
          <a:solidFill>
            <a:srgbClr val="171B22"/>
          </a:solidFill>
          <a:ln w="10160">
            <a:solidFill>
              <a:srgbClr val="303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13931" y="4617720"/>
            <a:ext cx="508863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2F4F7"/>
                </a:solidFill>
                <a:latin typeface="Helvetica Neue"/>
              </a:defRPr>
            </a:pPr>
            <a:r>
              <a:t>Audit / Runtime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1052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A0A8B4"/>
                </a:solidFill>
                <a:latin typeface="Helvetica Neue"/>
              </a:defRPr>
            </a:pPr>
            <a:r>
              <a:t>PHOENIX IT HELPDESK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66960" y="6510528"/>
            <a:ext cx="1691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A0A8B4"/>
                </a:solidFill>
                <a:latin typeface="Helvetica Neue"/>
              </a:defRPr>
            </a:pPr>
            <a:r>
              <a:t>CSS7102 • CA-03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502920" cy="50292"/>
          </a:xfrm>
          <a:prstGeom prst="rect">
            <a:avLst/>
          </a:prstGeom>
          <a:solidFill>
            <a:srgbClr val="6CA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A0A8B4"/>
                </a:solidFill>
                <a:latin typeface="Helvetica Neue"/>
              </a:defRPr>
            </a:pPr>
            <a: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2F4F7"/>
                </a:solidFill>
                <a:latin typeface="Helvetica Neue"/>
              </a:defRPr>
            </a:pPr>
            <a:r>
              <a:t>Backend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2704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8B4"/>
                </a:solidFill>
                <a:latin typeface="Helvetica Neue"/>
              </a:defRPr>
            </a:pPr>
            <a:r>
              <a:t>Python / FastAPI prototype — approximately 1,812 core lines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212848"/>
            <a:ext cx="5417820" cy="667512"/>
          </a:xfrm>
          <a:prstGeom prst="roundRect">
            <a:avLst/>
          </a:prstGeom>
          <a:solidFill>
            <a:srgbClr val="171B22"/>
          </a:solidFill>
          <a:ln w="10160">
            <a:solidFill>
              <a:srgbClr val="303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2331720"/>
            <a:ext cx="5088636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2F4F7"/>
                </a:solidFill>
                <a:latin typeface="Helvetica Neue"/>
              </a:defRPr>
            </a:pPr>
            <a:r>
              <a:t>agent.py — 525 lines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49340" y="2212848"/>
            <a:ext cx="5417820" cy="667512"/>
          </a:xfrm>
          <a:prstGeom prst="roundRect">
            <a:avLst/>
          </a:prstGeom>
          <a:solidFill>
            <a:srgbClr val="171B22"/>
          </a:solidFill>
          <a:ln w="10160">
            <a:solidFill>
              <a:srgbClr val="303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13931" y="2331720"/>
            <a:ext cx="5088636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2F4F7"/>
                </a:solidFill>
                <a:latin typeface="Helvetica Neue"/>
              </a:defRPr>
            </a:pPr>
            <a:r>
              <a:t>understanding.py — 281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108960"/>
            <a:ext cx="5417820" cy="667512"/>
          </a:xfrm>
          <a:prstGeom prst="roundRect">
            <a:avLst/>
          </a:prstGeom>
          <a:solidFill>
            <a:srgbClr val="171B22"/>
          </a:solidFill>
          <a:ln w="10160">
            <a:solidFill>
              <a:srgbClr val="303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3227832"/>
            <a:ext cx="5088636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2F4F7"/>
                </a:solidFill>
                <a:latin typeface="Helvetica Neue"/>
              </a:defRPr>
            </a:pPr>
            <a:r>
              <a:t>planner.py — 228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49340" y="3108960"/>
            <a:ext cx="5417820" cy="667512"/>
          </a:xfrm>
          <a:prstGeom prst="roundRect">
            <a:avLst/>
          </a:prstGeom>
          <a:solidFill>
            <a:srgbClr val="171B22"/>
          </a:solidFill>
          <a:ln w="10160">
            <a:solidFill>
              <a:srgbClr val="303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13931" y="3227832"/>
            <a:ext cx="5088636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2F4F7"/>
                </a:solidFill>
                <a:latin typeface="Helvetica Neue"/>
              </a:defRPr>
            </a:pPr>
            <a:r>
              <a:t>policy.py — 220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005072"/>
            <a:ext cx="5417820" cy="667512"/>
          </a:xfrm>
          <a:prstGeom prst="roundRect">
            <a:avLst/>
          </a:prstGeom>
          <a:solidFill>
            <a:srgbClr val="171B22"/>
          </a:solidFill>
          <a:ln w="10160">
            <a:solidFill>
              <a:srgbClr val="303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" y="4123944"/>
            <a:ext cx="5088636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2F4F7"/>
                </a:solidFill>
                <a:latin typeface="Helvetica Neue"/>
              </a:defRPr>
            </a:pPr>
            <a:r>
              <a:t>tools.py — 200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49340" y="4005072"/>
            <a:ext cx="5417820" cy="667512"/>
          </a:xfrm>
          <a:prstGeom prst="roundRect">
            <a:avLst/>
          </a:prstGeom>
          <a:solidFill>
            <a:srgbClr val="171B22"/>
          </a:solidFill>
          <a:ln w="10160">
            <a:solidFill>
              <a:srgbClr val="303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13931" y="4123944"/>
            <a:ext cx="5088636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2F4F7"/>
                </a:solidFill>
                <a:latin typeface="Helvetica Neue"/>
              </a:defRPr>
            </a:pPr>
            <a:r>
              <a:t>retrieval.py — 180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901184"/>
            <a:ext cx="5417820" cy="667512"/>
          </a:xfrm>
          <a:prstGeom prst="roundRect">
            <a:avLst/>
          </a:prstGeom>
          <a:solidFill>
            <a:srgbClr val="171B22"/>
          </a:solidFill>
          <a:ln w="10160">
            <a:solidFill>
              <a:srgbClr val="303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" y="5020056"/>
            <a:ext cx="5088636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2F4F7"/>
                </a:solidFill>
                <a:latin typeface="Helvetica Neue"/>
              </a:defRPr>
            </a:pPr>
            <a:r>
              <a:t>world_model.py — 94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49340" y="4901184"/>
            <a:ext cx="5417820" cy="667512"/>
          </a:xfrm>
          <a:prstGeom prst="roundRect">
            <a:avLst/>
          </a:prstGeom>
          <a:solidFill>
            <a:srgbClr val="171B22"/>
          </a:solidFill>
          <a:ln w="10160">
            <a:solidFill>
              <a:srgbClr val="303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13931" y="5020056"/>
            <a:ext cx="5088636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2F4F7"/>
                </a:solidFill>
                <a:latin typeface="Helvetica Neue"/>
              </a:defRPr>
            </a:pPr>
            <a:r>
              <a:t>verification.py — 84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797296"/>
            <a:ext cx="5417820" cy="667512"/>
          </a:xfrm>
          <a:prstGeom prst="roundRect">
            <a:avLst/>
          </a:prstGeom>
          <a:solidFill>
            <a:srgbClr val="171B22"/>
          </a:solidFill>
          <a:ln w="10160">
            <a:solidFill>
              <a:srgbClr val="303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" y="5916168"/>
            <a:ext cx="5088636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2F4F7"/>
                </a:solidFill>
                <a:latin typeface="Helvetica Neue"/>
              </a:defRPr>
            </a:pPr>
            <a:r>
              <a:t>Line count indicates implementation scope, not performance.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1052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A0A8B4"/>
                </a:solidFill>
                <a:latin typeface="Helvetica Neue"/>
              </a:defRPr>
            </a:pPr>
            <a:r>
              <a:t>PHOENIX IT HELPDESK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6510528"/>
            <a:ext cx="1691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A0A8B4"/>
                </a:solidFill>
                <a:latin typeface="Helvetica Neue"/>
              </a:defRPr>
            </a:pPr>
            <a:r>
              <a:t>CSS7102 • CA-03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502920" cy="50292"/>
          </a:xfrm>
          <a:prstGeom prst="rect">
            <a:avLst/>
          </a:prstGeom>
          <a:solidFill>
            <a:srgbClr val="6CA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A0A8B4"/>
                </a:solidFill>
                <a:latin typeface="Helvetica Neue"/>
              </a:defRPr>
            </a:pPr>
            <a: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2F4F7"/>
                </a:solidFill>
                <a:latin typeface="Helvetica Neue"/>
              </a:defRPr>
            </a:pPr>
            <a:r>
              <a:t>Request Understanding + Knowledge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2704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8B4"/>
                </a:solidFill>
                <a:latin typeface="Helvetica Neue"/>
              </a:defRPr>
            </a:pPr>
            <a:r>
              <a:t>Natural-language requests become structured agent inputs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212848"/>
            <a:ext cx="11064240" cy="891540"/>
          </a:xfrm>
          <a:prstGeom prst="roundRect">
            <a:avLst/>
          </a:prstGeom>
          <a:solidFill>
            <a:srgbClr val="171B22"/>
          </a:solidFill>
          <a:ln w="10160">
            <a:solidFill>
              <a:srgbClr val="303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2331720"/>
            <a:ext cx="10735056" cy="708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F2F4F7"/>
                </a:solidFill>
                <a:latin typeface="Helvetica Neue"/>
              </a:defRPr>
            </a:pPr>
            <a:r>
              <a:t>Supported intents: troubleshoot_vpn, reset_password, install_software, request_access, request_privileged_access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332988"/>
            <a:ext cx="11064240" cy="891540"/>
          </a:xfrm>
          <a:prstGeom prst="roundRect">
            <a:avLst/>
          </a:prstGeom>
          <a:solidFill>
            <a:srgbClr val="171B22"/>
          </a:solidFill>
          <a:ln w="10160">
            <a:solidFill>
              <a:srgbClr val="303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3451860"/>
            <a:ext cx="10735056" cy="708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2F4F7"/>
                </a:solidFill>
                <a:latin typeface="Helvetica Neue"/>
              </a:defRPr>
            </a:pPr>
            <a:r>
              <a:t>Extracts category, priority, severity, confidence and entities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453128"/>
            <a:ext cx="11064240" cy="891540"/>
          </a:xfrm>
          <a:prstGeom prst="roundRect">
            <a:avLst/>
          </a:prstGeom>
          <a:solidFill>
            <a:srgbClr val="171B22"/>
          </a:solidFill>
          <a:ln w="10160">
            <a:solidFill>
              <a:srgbClr val="303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4572000"/>
            <a:ext cx="10735056" cy="708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2F4F7"/>
                </a:solidFill>
                <a:latin typeface="Helvetica Neue"/>
              </a:defRPr>
            </a:pPr>
            <a:r>
              <a:t>Six controlled knowledge sources cover VPN, password, software and access procedures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5573268"/>
            <a:ext cx="11064240" cy="891540"/>
          </a:xfrm>
          <a:prstGeom prst="roundRect">
            <a:avLst/>
          </a:prstGeom>
          <a:solidFill>
            <a:srgbClr val="171B22"/>
          </a:solidFill>
          <a:ln w="10160">
            <a:solidFill>
              <a:srgbClr val="303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5692140"/>
            <a:ext cx="10735056" cy="708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F2F4F7"/>
                </a:solidFill>
                <a:latin typeface="Helvetica Neue"/>
              </a:defRPr>
            </a:pPr>
            <a:r>
              <a:t>Current retrieval is deterministic relevance scoring: RAG-compatible prototype, not a production vector database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052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A0A8B4"/>
                </a:solidFill>
                <a:latin typeface="Helvetica Neue"/>
              </a:defRPr>
            </a:pPr>
            <a:r>
              <a:t>PHOENIX IT HELPDESK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0" y="6510528"/>
            <a:ext cx="1691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A0A8B4"/>
                </a:solidFill>
                <a:latin typeface="Helvetica Neue"/>
              </a:defRPr>
            </a:pPr>
            <a:r>
              <a:t>CSS7102 • CA-03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502920" cy="50292"/>
          </a:xfrm>
          <a:prstGeom prst="rect">
            <a:avLst/>
          </a:prstGeom>
          <a:solidFill>
            <a:srgbClr val="6CA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A0A8B4"/>
                </a:solidFill>
                <a:latin typeface="Helvetica Neue"/>
              </a:defRPr>
            </a:pPr>
            <a: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2F4F7"/>
                </a:solidFill>
                <a:latin typeface="Helvetica Neue"/>
              </a:defRPr>
            </a:pPr>
            <a:r>
              <a:t>IT World + Planning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2704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8B4"/>
                </a:solidFill>
                <a:latin typeface="Helvetica Neue"/>
              </a:defRPr>
            </a:pPr>
            <a:r>
              <a:t>Planning is grounded in observed environment state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212848"/>
            <a:ext cx="11064240" cy="891540"/>
          </a:xfrm>
          <a:prstGeom prst="roundRect">
            <a:avLst/>
          </a:prstGeom>
          <a:solidFill>
            <a:srgbClr val="171B22"/>
          </a:solidFill>
          <a:ln w="10160">
            <a:solidFill>
              <a:srgbClr val="303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2331720"/>
            <a:ext cx="10735056" cy="708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2F4F7"/>
                </a:solidFill>
                <a:latin typeface="Helvetica Neue"/>
              </a:defRPr>
            </a:pPr>
            <a:r>
              <a:t>VPN pre-action state: client disconnected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332988"/>
            <a:ext cx="11064240" cy="891540"/>
          </a:xfrm>
          <a:prstGeom prst="roundRect">
            <a:avLst/>
          </a:prstGeom>
          <a:solidFill>
            <a:srgbClr val="171B22"/>
          </a:solidFill>
          <a:ln w="10160">
            <a:solidFill>
              <a:srgbClr val="303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3451860"/>
            <a:ext cx="10735056" cy="708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2F4F7"/>
                </a:solidFill>
                <a:latin typeface="Helvetica Neue"/>
              </a:defRPr>
            </a:pPr>
            <a:r>
              <a:t>Network connected; gateway operational; authentication valid; endpoint operational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453128"/>
            <a:ext cx="11064240" cy="891540"/>
          </a:xfrm>
          <a:prstGeom prst="roundRect">
            <a:avLst/>
          </a:prstGeom>
          <a:solidFill>
            <a:srgbClr val="171B22"/>
          </a:solidFill>
          <a:ln w="10160">
            <a:solidFill>
              <a:srgbClr val="303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4572000"/>
            <a:ext cx="10735056" cy="708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2F4F7"/>
                </a:solidFill>
                <a:latin typeface="Helvetica Neue"/>
              </a:defRPr>
            </a:pPr>
            <a:r>
              <a:t>Planner selects restart_vpn_client as the safe remediation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5573268"/>
            <a:ext cx="11064240" cy="891540"/>
          </a:xfrm>
          <a:prstGeom prst="roundRect">
            <a:avLst/>
          </a:prstGeom>
          <a:solidFill>
            <a:srgbClr val="171B22"/>
          </a:solidFill>
          <a:ln w="10160">
            <a:solidFill>
              <a:srgbClr val="303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5692140"/>
            <a:ext cx="10735056" cy="708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F2F4F7"/>
                </a:solidFill>
                <a:latin typeface="Helvetica Neue"/>
              </a:defRPr>
            </a:pPr>
            <a:r>
              <a:t>Current planning layer is deterministic prototype logic, not a live LLM reasoning engine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052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A0A8B4"/>
                </a:solidFill>
                <a:latin typeface="Helvetica Neue"/>
              </a:defRPr>
            </a:pPr>
            <a:r>
              <a:t>PHOENIX IT HELPDESK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0" y="6510528"/>
            <a:ext cx="1691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A0A8B4"/>
                </a:solidFill>
                <a:latin typeface="Helvetica Neue"/>
              </a:defRPr>
            </a:pPr>
            <a:r>
              <a:t>CSS7102 • CA-03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502920" cy="50292"/>
          </a:xfrm>
          <a:prstGeom prst="rect">
            <a:avLst/>
          </a:prstGeom>
          <a:solidFill>
            <a:srgbClr val="6CA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A0A8B4"/>
                </a:solidFill>
                <a:latin typeface="Helvetica Neue"/>
              </a:defRPr>
            </a:pPr>
            <a: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2F4F7"/>
                </a:solidFill>
                <a:latin typeface="Helvetica Neue"/>
              </a:defRPr>
            </a:pPr>
            <a:r>
              <a:t>Policy + Controlled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2704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8B4"/>
                </a:solidFill>
                <a:latin typeface="Helvetica Neue"/>
              </a:defRPr>
            </a:pPr>
            <a:r>
              <a:t>Reasoning does not equal permission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212848"/>
            <a:ext cx="11064240" cy="891540"/>
          </a:xfrm>
          <a:prstGeom prst="roundRect">
            <a:avLst/>
          </a:prstGeom>
          <a:solidFill>
            <a:srgbClr val="171B22"/>
          </a:solidFill>
          <a:ln w="10160">
            <a:solidFill>
              <a:srgbClr val="303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2331720"/>
            <a:ext cx="10735056" cy="708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F2F4F7"/>
                </a:solidFill>
                <a:latin typeface="Helvetica Neue"/>
              </a:defRPr>
            </a:pPr>
            <a:r>
              <a:t>Policies: POL-001 Password Reset; POL-002 VPN Restart; POL-003 Software; POL-004 Privileged Access; POL-005 Application Access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332988"/>
            <a:ext cx="11064240" cy="891540"/>
          </a:xfrm>
          <a:prstGeom prst="roundRect">
            <a:avLst/>
          </a:prstGeom>
          <a:solidFill>
            <a:srgbClr val="171B22"/>
          </a:solidFill>
          <a:ln w="10160">
            <a:solidFill>
              <a:srgbClr val="303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3451860"/>
            <a:ext cx="10735056" cy="708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F2F4F7"/>
                </a:solidFill>
                <a:latin typeface="Helvetica Neue"/>
              </a:defRPr>
            </a:pPr>
            <a:r>
              <a:t>Allowlisted tools: get_vpn_status, restart_vpn_client, reset_password, install_software, request_application_access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453128"/>
            <a:ext cx="11064240" cy="891540"/>
          </a:xfrm>
          <a:prstGeom prst="roundRect">
            <a:avLst/>
          </a:prstGeom>
          <a:solidFill>
            <a:srgbClr val="171B22"/>
          </a:solidFill>
          <a:ln w="10160">
            <a:solidFill>
              <a:srgbClr val="303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4572000"/>
            <a:ext cx="10735056" cy="708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2F4F7"/>
                </a:solidFill>
                <a:latin typeface="Helvetica Neue"/>
              </a:defRPr>
            </a:pPr>
            <a:r>
              <a:t>Policy evaluates risk, authorization and scenario-specific safety conditions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5573268"/>
            <a:ext cx="11064240" cy="891540"/>
          </a:xfrm>
          <a:prstGeom prst="roundRect">
            <a:avLst/>
          </a:prstGeom>
          <a:solidFill>
            <a:srgbClr val="171B22"/>
          </a:solidFill>
          <a:ln w="10160">
            <a:solidFill>
              <a:srgbClr val="303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5692140"/>
            <a:ext cx="10735056" cy="708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2F4F7"/>
                </a:solidFill>
                <a:latin typeface="Helvetica Neue"/>
              </a:defRPr>
            </a:pPr>
            <a:r>
              <a:t>Unknown or high-risk actions are not autonomously executed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052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A0A8B4"/>
                </a:solidFill>
                <a:latin typeface="Helvetica Neue"/>
              </a:defRPr>
            </a:pPr>
            <a:r>
              <a:t>PHOENIX IT HELPDESK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0" y="6510528"/>
            <a:ext cx="1691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A0A8B4"/>
                </a:solidFill>
                <a:latin typeface="Helvetica Neue"/>
              </a:defRPr>
            </a:pPr>
            <a:r>
              <a:t>CSS7102 • CA-03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502920" cy="50292"/>
          </a:xfrm>
          <a:prstGeom prst="rect">
            <a:avLst/>
          </a:prstGeom>
          <a:solidFill>
            <a:srgbClr val="6CA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A0A8B4"/>
                </a:solidFill>
                <a:latin typeface="Helvetica Neue"/>
              </a:defRPr>
            </a:pPr>
            <a: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2F4F7"/>
                </a:solidFill>
                <a:latin typeface="Helvetica Neue"/>
              </a:defRPr>
            </a:pPr>
            <a:r>
              <a:t>Verification + Escalation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2704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8B4"/>
                </a:solidFill>
                <a:latin typeface="Helvetica Neue"/>
              </a:defRPr>
            </a:pPr>
            <a:r>
              <a:t>Resolve only after the expected state is actually observed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212848"/>
            <a:ext cx="11064240" cy="891540"/>
          </a:xfrm>
          <a:prstGeom prst="roundRect">
            <a:avLst/>
          </a:prstGeom>
          <a:solidFill>
            <a:srgbClr val="171B22"/>
          </a:solidFill>
          <a:ln w="10160">
            <a:solidFill>
              <a:srgbClr val="303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2331720"/>
            <a:ext cx="10735056" cy="708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2F4F7"/>
                </a:solidFill>
                <a:latin typeface="Helvetica Neue"/>
              </a:defRPr>
            </a:pPr>
            <a:r>
              <a:t>Compare expected post-action state with observed state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332988"/>
            <a:ext cx="11064240" cy="891540"/>
          </a:xfrm>
          <a:prstGeom prst="roundRect">
            <a:avLst/>
          </a:prstGeom>
          <a:solidFill>
            <a:srgbClr val="171B22"/>
          </a:solidFill>
          <a:ln w="10160">
            <a:solidFill>
              <a:srgbClr val="303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3451860"/>
            <a:ext cx="10735056" cy="708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2F4F7"/>
                </a:solidFill>
                <a:latin typeface="Helvetica Neue"/>
              </a:defRPr>
            </a:pPr>
            <a:r>
              <a:t>Tool failure → escalation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453128"/>
            <a:ext cx="11064240" cy="891540"/>
          </a:xfrm>
          <a:prstGeom prst="roundRect">
            <a:avLst/>
          </a:prstGeom>
          <a:solidFill>
            <a:srgbClr val="171B22"/>
          </a:solidFill>
          <a:ln w="10160">
            <a:solidFill>
              <a:srgbClr val="303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4572000"/>
            <a:ext cx="10735056" cy="708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2F4F7"/>
                </a:solidFill>
                <a:latin typeface="Helvetica Neue"/>
              </a:defRPr>
            </a:pPr>
            <a:r>
              <a:t>Policy block → no tool execution → human intervention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5573268"/>
            <a:ext cx="11064240" cy="891540"/>
          </a:xfrm>
          <a:prstGeom prst="roundRect">
            <a:avLst/>
          </a:prstGeom>
          <a:solidFill>
            <a:srgbClr val="171B22"/>
          </a:solidFill>
          <a:ln w="10160">
            <a:solidFill>
              <a:srgbClr val="303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5692140"/>
            <a:ext cx="10735056" cy="708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6C991"/>
                </a:solidFill>
                <a:latin typeface="Helvetica Neue"/>
              </a:defRPr>
            </a:pPr>
            <a:r>
              <a:t>Successful remediation → verified → resolved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052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A0A8B4"/>
                </a:solidFill>
                <a:latin typeface="Helvetica Neue"/>
              </a:defRPr>
            </a:pPr>
            <a:r>
              <a:t>PHOENIX IT HELPDESK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0" y="6510528"/>
            <a:ext cx="1691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A0A8B4"/>
                </a:solidFill>
                <a:latin typeface="Helvetica Neue"/>
              </a:defRPr>
            </a:pPr>
            <a:r>
              <a:t>CSS7102 • CA-03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502920" cy="50292"/>
          </a:xfrm>
          <a:prstGeom prst="rect">
            <a:avLst/>
          </a:prstGeom>
          <a:solidFill>
            <a:srgbClr val="6CA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A0A8B4"/>
                </a:solidFill>
                <a:latin typeface="Helvetica Neue"/>
              </a:defRPr>
            </a:pPr>
            <a: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2F4F7"/>
                </a:solidFill>
                <a:latin typeface="Helvetica Neue"/>
              </a:defRPr>
            </a:pPr>
            <a:r>
              <a:t>Live VPN Demonstration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2704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8B4"/>
                </a:solidFill>
                <a:latin typeface="Helvetica Neue"/>
              </a:defRPr>
            </a:pPr>
            <a:r>
              <a:t>INC-1042 — controlled autonomous remediation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212848"/>
            <a:ext cx="5417820" cy="891540"/>
          </a:xfrm>
          <a:prstGeom prst="roundRect">
            <a:avLst/>
          </a:prstGeom>
          <a:solidFill>
            <a:srgbClr val="171B22"/>
          </a:solidFill>
          <a:ln w="10160">
            <a:solidFill>
              <a:srgbClr val="303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2331720"/>
            <a:ext cx="5088636" cy="708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2F4F7"/>
                </a:solidFill>
                <a:latin typeface="Helvetica Neue"/>
              </a:defRPr>
            </a:pPr>
            <a:r>
              <a:t>Pre-action: VPN disconnected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49340" y="2212848"/>
            <a:ext cx="5417820" cy="891540"/>
          </a:xfrm>
          <a:prstGeom prst="roundRect">
            <a:avLst/>
          </a:prstGeom>
          <a:solidFill>
            <a:srgbClr val="171B22"/>
          </a:solidFill>
          <a:ln w="10160">
            <a:solidFill>
              <a:srgbClr val="303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13931" y="2331720"/>
            <a:ext cx="5088636" cy="708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2F4F7"/>
                </a:solidFill>
                <a:latin typeface="Helvetica Neue"/>
              </a:defRPr>
            </a:pPr>
            <a:r>
              <a:t>Plan: restart_vpn_client • Risk: Low • Authorization: Required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332988"/>
            <a:ext cx="5417820" cy="891540"/>
          </a:xfrm>
          <a:prstGeom prst="roundRect">
            <a:avLst/>
          </a:prstGeom>
          <a:solidFill>
            <a:srgbClr val="171B22"/>
          </a:solidFill>
          <a:ln w="10160">
            <a:solidFill>
              <a:srgbClr val="303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3451860"/>
            <a:ext cx="5088636" cy="708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6C991"/>
                </a:solidFill>
                <a:latin typeface="Helvetica Neue"/>
              </a:defRPr>
            </a:pPr>
            <a:r>
              <a:t>POL-002 → Allowed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49340" y="3332988"/>
            <a:ext cx="5417820" cy="891540"/>
          </a:xfrm>
          <a:prstGeom prst="roundRect">
            <a:avLst/>
          </a:prstGeom>
          <a:solidFill>
            <a:srgbClr val="171B22"/>
          </a:solidFill>
          <a:ln w="10160">
            <a:solidFill>
              <a:srgbClr val="303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13931" y="3451860"/>
            <a:ext cx="5088636" cy="708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6C991"/>
                </a:solidFill>
                <a:latin typeface="Helvetica Neue"/>
              </a:defRPr>
            </a:pPr>
            <a:r>
              <a:t>Controlled tool → Success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453128"/>
            <a:ext cx="5417820" cy="891540"/>
          </a:xfrm>
          <a:prstGeom prst="roundRect">
            <a:avLst/>
          </a:prstGeom>
          <a:solidFill>
            <a:srgbClr val="171B22"/>
          </a:solidFill>
          <a:ln w="10160">
            <a:solidFill>
              <a:srgbClr val="303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" y="4572000"/>
            <a:ext cx="5088636" cy="708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2F4F7"/>
                </a:solidFill>
                <a:latin typeface="Helvetica Neue"/>
              </a:defRPr>
            </a:pPr>
            <a:r>
              <a:t>State: disconnected → connected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49340" y="4453128"/>
            <a:ext cx="5417820" cy="891540"/>
          </a:xfrm>
          <a:prstGeom prst="roundRect">
            <a:avLst/>
          </a:prstGeom>
          <a:solidFill>
            <a:srgbClr val="171B22"/>
          </a:solidFill>
          <a:ln w="10160">
            <a:solidFill>
              <a:srgbClr val="303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13931" y="4572000"/>
            <a:ext cx="5088636" cy="708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6C991"/>
                </a:solidFill>
                <a:latin typeface="Helvetica Neue"/>
              </a:defRPr>
            </a:pPr>
            <a:r>
              <a:t>Verification → Passed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5573268"/>
            <a:ext cx="5417820" cy="891540"/>
          </a:xfrm>
          <a:prstGeom prst="roundRect">
            <a:avLst/>
          </a:prstGeom>
          <a:solidFill>
            <a:srgbClr val="171B22"/>
          </a:solidFill>
          <a:ln w="10160">
            <a:solidFill>
              <a:srgbClr val="303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" y="5692140"/>
            <a:ext cx="5088636" cy="708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6C991"/>
                </a:solidFill>
                <a:latin typeface="Helvetica Neue"/>
              </a:defRPr>
            </a:pPr>
            <a:r>
              <a:t>Final ticket status → Resolved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1052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A0A8B4"/>
                </a:solidFill>
                <a:latin typeface="Helvetica Neue"/>
              </a:defRPr>
            </a:pPr>
            <a:r>
              <a:t>PHOENIX IT HELPDESK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6510528"/>
            <a:ext cx="1691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A0A8B4"/>
                </a:solidFill>
                <a:latin typeface="Helvetica Neue"/>
              </a:defRPr>
            </a:pPr>
            <a:r>
              <a:t>CSS7102 • CA-03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502920" cy="50292"/>
          </a:xfrm>
          <a:prstGeom prst="rect">
            <a:avLst/>
          </a:prstGeom>
          <a:solidFill>
            <a:srgbClr val="6CA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A0A8B4"/>
                </a:solidFill>
                <a:latin typeface="Helvetica Neue"/>
              </a:defRPr>
            </a:pPr>
            <a: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2F4F7"/>
                </a:solidFill>
                <a:latin typeface="Helvetica Neue"/>
              </a:defRPr>
            </a:pPr>
            <a:r>
              <a:t>Safety Demonstration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2704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8B4"/>
                </a:solidFill>
                <a:latin typeface="Helvetica Neue"/>
              </a:defRPr>
            </a:pPr>
            <a:r>
              <a:t>INC-1038 — privileged access is blocked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212848"/>
            <a:ext cx="5417820" cy="891540"/>
          </a:xfrm>
          <a:prstGeom prst="roundRect">
            <a:avLst/>
          </a:prstGeom>
          <a:solidFill>
            <a:srgbClr val="171B22"/>
          </a:solidFill>
          <a:ln w="10160">
            <a:solidFill>
              <a:srgbClr val="303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2331720"/>
            <a:ext cx="5088636" cy="708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2F4F7"/>
                </a:solidFill>
                <a:latin typeface="Helvetica Neue"/>
              </a:defRPr>
            </a:pPr>
            <a:r>
              <a:t>Intent: request_privileged_access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49340" y="2212848"/>
            <a:ext cx="5417820" cy="891540"/>
          </a:xfrm>
          <a:prstGeom prst="roundRect">
            <a:avLst/>
          </a:prstGeom>
          <a:solidFill>
            <a:srgbClr val="171B22"/>
          </a:solidFill>
          <a:ln w="10160">
            <a:solidFill>
              <a:srgbClr val="303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13931" y="2331720"/>
            <a:ext cx="5088636" cy="708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2F4F7"/>
                </a:solidFill>
                <a:latin typeface="Helvetica Neue"/>
              </a:defRPr>
            </a:pPr>
            <a:r>
              <a:t>Candidate: grant_admin_access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332988"/>
            <a:ext cx="5417820" cy="891540"/>
          </a:xfrm>
          <a:prstGeom prst="roundRect">
            <a:avLst/>
          </a:prstGeom>
          <a:solidFill>
            <a:srgbClr val="171B22"/>
          </a:solidFill>
          <a:ln w="10160">
            <a:solidFill>
              <a:srgbClr val="303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3451860"/>
            <a:ext cx="5088636" cy="708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6F6F"/>
                </a:solidFill>
                <a:latin typeface="Helvetica Neue"/>
              </a:defRPr>
            </a:pPr>
            <a:r>
              <a:t>Risk: High • POL-004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49340" y="3332988"/>
            <a:ext cx="5417820" cy="891540"/>
          </a:xfrm>
          <a:prstGeom prst="roundRect">
            <a:avLst/>
          </a:prstGeom>
          <a:solidFill>
            <a:srgbClr val="171B22"/>
          </a:solidFill>
          <a:ln w="10160">
            <a:solidFill>
              <a:srgbClr val="303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13931" y="3451860"/>
            <a:ext cx="5088636" cy="708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6F6F"/>
                </a:solidFill>
                <a:latin typeface="Helvetica Neue"/>
              </a:defRPr>
            </a:pPr>
            <a:r>
              <a:t>Decision: BLOCKED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453128"/>
            <a:ext cx="5417820" cy="891540"/>
          </a:xfrm>
          <a:prstGeom prst="roundRect">
            <a:avLst/>
          </a:prstGeom>
          <a:solidFill>
            <a:srgbClr val="171B22"/>
          </a:solidFill>
          <a:ln w="10160">
            <a:solidFill>
              <a:srgbClr val="303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" y="4572000"/>
            <a:ext cx="5088636" cy="708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6F6F"/>
                </a:solidFill>
                <a:latin typeface="Helvetica Neue"/>
              </a:defRPr>
            </a:pPr>
            <a:r>
              <a:t>Controlled tool execution: NOT performed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49340" y="4453128"/>
            <a:ext cx="5417820" cy="891540"/>
          </a:xfrm>
          <a:prstGeom prst="roundRect">
            <a:avLst/>
          </a:prstGeom>
          <a:solidFill>
            <a:srgbClr val="171B22"/>
          </a:solidFill>
          <a:ln w="10160">
            <a:solidFill>
              <a:srgbClr val="303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13931" y="4572000"/>
            <a:ext cx="5088636" cy="708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2F4F7"/>
                </a:solidFill>
                <a:latin typeface="Helvetica Neue"/>
              </a:defRPr>
            </a:pPr>
            <a:r>
              <a:t>Final behavior: Human IT intervention required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5573268"/>
            <a:ext cx="5417820" cy="891540"/>
          </a:xfrm>
          <a:prstGeom prst="roundRect">
            <a:avLst/>
          </a:prstGeom>
          <a:solidFill>
            <a:srgbClr val="171B22"/>
          </a:solidFill>
          <a:ln w="10160">
            <a:solidFill>
              <a:srgbClr val="303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" y="5692140"/>
            <a:ext cx="5088636" cy="708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2F4F7"/>
                </a:solidFill>
                <a:latin typeface="Helvetica Neue"/>
              </a:defRPr>
            </a:pPr>
            <a:r>
              <a:t>Safety boundary: planner cannot bypass policy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1052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A0A8B4"/>
                </a:solidFill>
                <a:latin typeface="Helvetica Neue"/>
              </a:defRPr>
            </a:pPr>
            <a:r>
              <a:t>PHOENIX IT HELPDESK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6510528"/>
            <a:ext cx="1691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A0A8B4"/>
                </a:solidFill>
                <a:latin typeface="Helvetica Neue"/>
              </a:defRPr>
            </a:pPr>
            <a:r>
              <a:t>CSS7102 • CA-03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502920" cy="50292"/>
          </a:xfrm>
          <a:prstGeom prst="rect">
            <a:avLst/>
          </a:prstGeom>
          <a:solidFill>
            <a:srgbClr val="6CA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A0A8B4"/>
                </a:solidFill>
                <a:latin typeface="Helvetica Neue"/>
              </a:defRPr>
            </a:pPr>
            <a: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2F4F7"/>
                </a:solidFill>
                <a:latin typeface="Helvetica Neue"/>
              </a:defRPr>
            </a:pPr>
            <a:r>
              <a:t>Level-1 Functional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2704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8B4"/>
                </a:solidFill>
                <a:latin typeface="Helvetica Neue"/>
              </a:defRPr>
            </a:pPr>
            <a:r>
              <a:t>Five intended behaviors validated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212848"/>
            <a:ext cx="5417820" cy="891540"/>
          </a:xfrm>
          <a:prstGeom prst="roundRect">
            <a:avLst/>
          </a:prstGeom>
          <a:solidFill>
            <a:srgbClr val="171B22"/>
          </a:solidFill>
          <a:ln w="10160">
            <a:solidFill>
              <a:srgbClr val="303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2331720"/>
            <a:ext cx="5088636" cy="708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2F4F7"/>
                </a:solidFill>
                <a:latin typeface="Helvetica Neue"/>
              </a:defRPr>
            </a:pPr>
            <a:r>
              <a:t>TC-001 VPN → resolved after verification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49340" y="2212848"/>
            <a:ext cx="5417820" cy="891540"/>
          </a:xfrm>
          <a:prstGeom prst="roundRect">
            <a:avLst/>
          </a:prstGeom>
          <a:solidFill>
            <a:srgbClr val="171B22"/>
          </a:solidFill>
          <a:ln w="10160">
            <a:solidFill>
              <a:srgbClr val="303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13931" y="2331720"/>
            <a:ext cx="5088636" cy="708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2F4F7"/>
                </a:solidFill>
                <a:latin typeface="Helvetica Neue"/>
              </a:defRPr>
            </a:pPr>
            <a:r>
              <a:t>TC-002 Password reset → resolved after verification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332988"/>
            <a:ext cx="5417820" cy="891540"/>
          </a:xfrm>
          <a:prstGeom prst="roundRect">
            <a:avLst/>
          </a:prstGeom>
          <a:solidFill>
            <a:srgbClr val="171B22"/>
          </a:solidFill>
          <a:ln w="10160">
            <a:solidFill>
              <a:srgbClr val="303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3451860"/>
            <a:ext cx="5088636" cy="708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2F4F7"/>
                </a:solidFill>
                <a:latin typeface="Helvetica Neue"/>
              </a:defRPr>
            </a:pPr>
            <a:r>
              <a:t>TC-003 Software installation → resolved after verification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49340" y="3332988"/>
            <a:ext cx="5417820" cy="891540"/>
          </a:xfrm>
          <a:prstGeom prst="roundRect">
            <a:avLst/>
          </a:prstGeom>
          <a:solidFill>
            <a:srgbClr val="171B22"/>
          </a:solidFill>
          <a:ln w="10160">
            <a:solidFill>
              <a:srgbClr val="303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13931" y="3451860"/>
            <a:ext cx="5088636" cy="708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2F4F7"/>
                </a:solidFill>
                <a:latin typeface="Helvetica Neue"/>
              </a:defRPr>
            </a:pPr>
            <a:r>
              <a:t>TC-004 Application access → resolved after verification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453128"/>
            <a:ext cx="5417820" cy="891540"/>
          </a:xfrm>
          <a:prstGeom prst="roundRect">
            <a:avLst/>
          </a:prstGeom>
          <a:solidFill>
            <a:srgbClr val="171B22"/>
          </a:solidFill>
          <a:ln w="10160">
            <a:solidFill>
              <a:srgbClr val="303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" y="4572000"/>
            <a:ext cx="5088636" cy="708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2F4F7"/>
                </a:solidFill>
                <a:latin typeface="Helvetica Neue"/>
              </a:defRPr>
            </a:pPr>
            <a:r>
              <a:t>TC-005 Privileged access → blocked and escalated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49340" y="4453128"/>
            <a:ext cx="5417820" cy="891540"/>
          </a:xfrm>
          <a:prstGeom prst="roundRect">
            <a:avLst/>
          </a:prstGeom>
          <a:solidFill>
            <a:srgbClr val="171B22"/>
          </a:solidFill>
          <a:ln w="10160">
            <a:solidFill>
              <a:srgbClr val="303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13931" y="4572000"/>
            <a:ext cx="5088636" cy="708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2F4F7"/>
                </a:solidFill>
                <a:latin typeface="Helvetica Neue"/>
              </a:defRPr>
            </a:pPr>
            <a:r>
              <a:t>Result: 5/5 intended behaviors passed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5573268"/>
            <a:ext cx="5417820" cy="891540"/>
          </a:xfrm>
          <a:prstGeom prst="roundRect">
            <a:avLst/>
          </a:prstGeom>
          <a:solidFill>
            <a:srgbClr val="171B22"/>
          </a:solidFill>
          <a:ln w="10160">
            <a:solidFill>
              <a:srgbClr val="303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" y="5692140"/>
            <a:ext cx="5088636" cy="708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2F4F7"/>
                </a:solidFill>
                <a:latin typeface="Helvetica Neue"/>
              </a:defRPr>
            </a:pPr>
            <a:r>
              <a:t>Functional prototype tests; not statistically significant experimental results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1052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A0A8B4"/>
                </a:solidFill>
                <a:latin typeface="Helvetica Neue"/>
              </a:defRPr>
            </a:pPr>
            <a:r>
              <a:t>PHOENIX IT HELPDESK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6510528"/>
            <a:ext cx="1691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A0A8B4"/>
                </a:solidFill>
                <a:latin typeface="Helvetica Neue"/>
              </a:defRPr>
            </a:pPr>
            <a:r>
              <a:t>CSS7102 • CA-03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502920" cy="50292"/>
          </a:xfrm>
          <a:prstGeom prst="rect">
            <a:avLst/>
          </a:prstGeom>
          <a:solidFill>
            <a:srgbClr val="6CA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A0A8B4"/>
                </a:solidFill>
                <a:latin typeface="Helvetica Neue"/>
              </a:defRPr>
            </a:pPr>
            <a: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2F4F7"/>
                </a:solidFill>
                <a:latin typeface="Helvetica Neue"/>
              </a:defRPr>
            </a:pPr>
            <a:r>
              <a:t>Frontend Command Center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2704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8B4"/>
                </a:solidFill>
                <a:latin typeface="Helvetica Neue"/>
              </a:defRPr>
            </a:pPr>
            <a:r>
              <a:t>Integrated enterprise-style operations interface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212848"/>
            <a:ext cx="5417820" cy="667512"/>
          </a:xfrm>
          <a:prstGeom prst="roundRect">
            <a:avLst/>
          </a:prstGeom>
          <a:solidFill>
            <a:srgbClr val="171B22"/>
          </a:solidFill>
          <a:ln w="10160">
            <a:solidFill>
              <a:srgbClr val="303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2331720"/>
            <a:ext cx="5088636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2F4F7"/>
                </a:solidFill>
                <a:latin typeface="Helvetica Neue"/>
              </a:defRPr>
            </a:pPr>
            <a:r>
              <a:t>/agent — autonomous execution pipeline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49340" y="2212848"/>
            <a:ext cx="5417820" cy="667512"/>
          </a:xfrm>
          <a:prstGeom prst="roundRect">
            <a:avLst/>
          </a:prstGeom>
          <a:solidFill>
            <a:srgbClr val="171B22"/>
          </a:solidFill>
          <a:ln w="10160">
            <a:solidFill>
              <a:srgbClr val="303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13931" y="2331720"/>
            <a:ext cx="5088636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2F4F7"/>
                </a:solidFill>
                <a:latin typeface="Helvetica Neue"/>
              </a:defRPr>
            </a:pPr>
            <a:r>
              <a:t>/tickets — ticket management and live agent integration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108960"/>
            <a:ext cx="5417820" cy="667512"/>
          </a:xfrm>
          <a:prstGeom prst="roundRect">
            <a:avLst/>
          </a:prstGeom>
          <a:solidFill>
            <a:srgbClr val="171B22"/>
          </a:solidFill>
          <a:ln w="10160">
            <a:solidFill>
              <a:srgbClr val="303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3227832"/>
            <a:ext cx="5088636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2F4F7"/>
                </a:solidFill>
                <a:latin typeface="Helvetica Neue"/>
              </a:defRPr>
            </a:pPr>
            <a:r>
              <a:t>/it-world — environmental state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49340" y="3108960"/>
            <a:ext cx="5417820" cy="667512"/>
          </a:xfrm>
          <a:prstGeom prst="roundRect">
            <a:avLst/>
          </a:prstGeom>
          <a:solidFill>
            <a:srgbClr val="171B22"/>
          </a:solidFill>
          <a:ln w="10160">
            <a:solidFill>
              <a:srgbClr val="303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13931" y="3227832"/>
            <a:ext cx="5088636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2F4F7"/>
                </a:solidFill>
                <a:latin typeface="Helvetica Neue"/>
              </a:defRPr>
            </a:pPr>
            <a:r>
              <a:t>/knowledge — retrieval evidence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005072"/>
            <a:ext cx="5417820" cy="667512"/>
          </a:xfrm>
          <a:prstGeom prst="roundRect">
            <a:avLst/>
          </a:prstGeom>
          <a:solidFill>
            <a:srgbClr val="171B22"/>
          </a:solidFill>
          <a:ln w="10160">
            <a:solidFill>
              <a:srgbClr val="303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" y="4123944"/>
            <a:ext cx="5088636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2F4F7"/>
                </a:solidFill>
                <a:latin typeface="Helvetica Neue"/>
              </a:defRPr>
            </a:pPr>
            <a:r>
              <a:t>/policies — policy and risk center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49340" y="4005072"/>
            <a:ext cx="5417820" cy="667512"/>
          </a:xfrm>
          <a:prstGeom prst="roundRect">
            <a:avLst/>
          </a:prstGeom>
          <a:solidFill>
            <a:srgbClr val="171B22"/>
          </a:solidFill>
          <a:ln w="10160">
            <a:solidFill>
              <a:srgbClr val="303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13931" y="4123944"/>
            <a:ext cx="5088636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2F4F7"/>
                </a:solidFill>
                <a:latin typeface="Helvetica Neue"/>
              </a:defRPr>
            </a:pPr>
            <a:r>
              <a:t>/tools — controlled tool registry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901184"/>
            <a:ext cx="5417820" cy="667512"/>
          </a:xfrm>
          <a:prstGeom prst="roundRect">
            <a:avLst/>
          </a:prstGeom>
          <a:solidFill>
            <a:srgbClr val="171B22"/>
          </a:solidFill>
          <a:ln w="10160">
            <a:solidFill>
              <a:srgbClr val="303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" y="5020056"/>
            <a:ext cx="5088636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2F4F7"/>
                </a:solidFill>
                <a:latin typeface="Helvetica Neue"/>
              </a:defRPr>
            </a:pPr>
            <a:r>
              <a:t>/observatory — runtime stages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49340" y="4901184"/>
            <a:ext cx="5417820" cy="667512"/>
          </a:xfrm>
          <a:prstGeom prst="roundRect">
            <a:avLst/>
          </a:prstGeom>
          <a:solidFill>
            <a:srgbClr val="171B22"/>
          </a:solidFill>
          <a:ln w="10160">
            <a:solidFill>
              <a:srgbClr val="303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13931" y="5020056"/>
            <a:ext cx="5088636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2F4F7"/>
                </a:solidFill>
                <a:latin typeface="Helvetica Neue"/>
              </a:defRPr>
            </a:pPr>
            <a:r>
              <a:t>/audit — execution telemetry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797296"/>
            <a:ext cx="5417820" cy="667512"/>
          </a:xfrm>
          <a:prstGeom prst="roundRect">
            <a:avLst/>
          </a:prstGeom>
          <a:solidFill>
            <a:srgbClr val="171B22"/>
          </a:solidFill>
          <a:ln w="10160">
            <a:solidFill>
              <a:srgbClr val="303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" y="5916168"/>
            <a:ext cx="5088636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2F4F7"/>
                </a:solidFill>
                <a:latin typeface="Helvetica Neue"/>
              </a:defRPr>
            </a:pPr>
            <a:r>
              <a:t>/evaluation and /production — validation and readiness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1052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A0A8B4"/>
                </a:solidFill>
                <a:latin typeface="Helvetica Neue"/>
              </a:defRPr>
            </a:pPr>
            <a:r>
              <a:t>PHOENIX IT HELPDESK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6510528"/>
            <a:ext cx="1691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A0A8B4"/>
                </a:solidFill>
                <a:latin typeface="Helvetica Neue"/>
              </a:defRPr>
            </a:pPr>
            <a:r>
              <a:t>CSS7102 • CA-03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502920" cy="50292"/>
          </a:xfrm>
          <a:prstGeom prst="rect">
            <a:avLst/>
          </a:prstGeom>
          <a:solidFill>
            <a:srgbClr val="6CA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A0A8B4"/>
                </a:solidFill>
                <a:latin typeface="Helvetica Neue"/>
              </a:defRPr>
            </a:pPr>
            <a: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2F4F7"/>
                </a:solidFill>
                <a:latin typeface="Helvetica Neue"/>
              </a:defRPr>
            </a:pPr>
            <a:r>
              <a:t>Observability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2704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8B4"/>
                </a:solidFill>
                <a:latin typeface="Helvetica Neue"/>
              </a:defRPr>
            </a:pPr>
            <a:r>
              <a:t>Runtime evidence mirrors the seven-stage workflow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212848"/>
            <a:ext cx="11064240" cy="667512"/>
          </a:xfrm>
          <a:prstGeom prst="roundRect">
            <a:avLst/>
          </a:prstGeom>
          <a:solidFill>
            <a:srgbClr val="171B22"/>
          </a:solidFill>
          <a:ln w="10160">
            <a:solidFill>
              <a:srgbClr val="303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2331720"/>
            <a:ext cx="10735056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2F4F7"/>
                </a:solidFill>
                <a:latin typeface="Helvetica Neue"/>
              </a:defRPr>
            </a:pPr>
            <a:r>
              <a:t>01 Understand • 02 Retrieve • 03 Observe • 04 Reason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108960"/>
            <a:ext cx="11064240" cy="667512"/>
          </a:xfrm>
          <a:prstGeom prst="roundRect">
            <a:avLst/>
          </a:prstGeom>
          <a:solidFill>
            <a:srgbClr val="171B22"/>
          </a:solidFill>
          <a:ln w="10160">
            <a:solidFill>
              <a:srgbClr val="303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3227832"/>
            <a:ext cx="10735056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2F4F7"/>
                </a:solidFill>
                <a:latin typeface="Helvetica Neue"/>
              </a:defRPr>
            </a:pPr>
            <a:r>
              <a:t>05 Policy • 06 Execute • 07 Verify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005072"/>
            <a:ext cx="11064240" cy="667512"/>
          </a:xfrm>
          <a:prstGeom prst="roundRect">
            <a:avLst/>
          </a:prstGeom>
          <a:solidFill>
            <a:srgbClr val="171B22"/>
          </a:solidFill>
          <a:ln w="10160">
            <a:solidFill>
              <a:srgbClr val="303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4123944"/>
            <a:ext cx="10735056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2F4F7"/>
                </a:solidFill>
                <a:latin typeface="Helvetica Neue"/>
              </a:defRPr>
            </a:pPr>
            <a:r>
              <a:t>Latest agent execution is replayed through the frontend pipeline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901184"/>
            <a:ext cx="11064240" cy="667512"/>
          </a:xfrm>
          <a:prstGeom prst="roundRect">
            <a:avLst/>
          </a:prstGeom>
          <a:solidFill>
            <a:srgbClr val="171B22"/>
          </a:solidFill>
          <a:ln w="10160">
            <a:solidFill>
              <a:srgbClr val="303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5020056"/>
            <a:ext cx="10735056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2F4F7"/>
                </a:solidFill>
                <a:latin typeface="Helvetica Neue"/>
              </a:defRPr>
            </a:pPr>
            <a:r>
              <a:t>Audit view exposes prototype telemetry from the latest run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5797296"/>
            <a:ext cx="11064240" cy="667512"/>
          </a:xfrm>
          <a:prstGeom prst="roundRect">
            <a:avLst/>
          </a:prstGeom>
          <a:solidFill>
            <a:srgbClr val="171B22"/>
          </a:solidFill>
          <a:ln w="10160">
            <a:solidFill>
              <a:srgbClr val="303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" y="5916168"/>
            <a:ext cx="10735056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2F4F7"/>
                </a:solidFill>
                <a:latin typeface="Helvetica Neue"/>
              </a:defRPr>
            </a:pPr>
            <a:r>
              <a:t>Telemetry is not yet persistent enterprise audit storage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A0A8B4"/>
                </a:solidFill>
                <a:latin typeface="Helvetica Neue"/>
              </a:defRPr>
            </a:pPr>
            <a:r>
              <a:t>PHOENIX IT HELPDESK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6510528"/>
            <a:ext cx="1691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A0A8B4"/>
                </a:solidFill>
                <a:latin typeface="Helvetica Neue"/>
              </a:defRPr>
            </a:pPr>
            <a:r>
              <a:t>CSS7102 • CA-03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502920" cy="50292"/>
          </a:xfrm>
          <a:prstGeom prst="rect">
            <a:avLst/>
          </a:prstGeom>
          <a:solidFill>
            <a:srgbClr val="6CA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A0A8B4"/>
                </a:solidFill>
                <a:latin typeface="Helvetica Neue"/>
              </a:defRPr>
            </a:pPr>
            <a: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2F4F7"/>
                </a:solidFill>
                <a:latin typeface="Helvetica Neue"/>
              </a:defRPr>
            </a:pPr>
            <a:r>
              <a:t>Evaluation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2704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8B4"/>
                </a:solidFill>
                <a:latin typeface="Helvetica Neue"/>
              </a:defRPr>
            </a:pPr>
            <a:r>
              <a:t>Evaluation dimensions defined for CA-03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212848"/>
            <a:ext cx="5417820" cy="518160"/>
          </a:xfrm>
          <a:prstGeom prst="roundRect">
            <a:avLst/>
          </a:prstGeom>
          <a:solidFill>
            <a:srgbClr val="171B22"/>
          </a:solidFill>
          <a:ln w="10160">
            <a:solidFill>
              <a:srgbClr val="303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2331720"/>
            <a:ext cx="5088636" cy="335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2F4F7"/>
                </a:solidFill>
                <a:latin typeface="Helvetica Neue"/>
              </a:defRPr>
            </a:pPr>
            <a:r>
              <a:t>Intent Accuracy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49340" y="2212848"/>
            <a:ext cx="5417820" cy="518160"/>
          </a:xfrm>
          <a:prstGeom prst="roundRect">
            <a:avLst/>
          </a:prstGeom>
          <a:solidFill>
            <a:srgbClr val="171B22"/>
          </a:solidFill>
          <a:ln w="10160">
            <a:solidFill>
              <a:srgbClr val="303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13931" y="2331720"/>
            <a:ext cx="5088636" cy="335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2F4F7"/>
                </a:solidFill>
                <a:latin typeface="Helvetica Neue"/>
              </a:defRPr>
            </a:pPr>
            <a:r>
              <a:t>Retrieval Relevance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959608"/>
            <a:ext cx="5417820" cy="518160"/>
          </a:xfrm>
          <a:prstGeom prst="roundRect">
            <a:avLst/>
          </a:prstGeom>
          <a:solidFill>
            <a:srgbClr val="171B22"/>
          </a:solidFill>
          <a:ln w="10160">
            <a:solidFill>
              <a:srgbClr val="303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3078480"/>
            <a:ext cx="5088636" cy="335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2F4F7"/>
                </a:solidFill>
                <a:latin typeface="Helvetica Neue"/>
              </a:defRPr>
            </a:pPr>
            <a:r>
              <a:t>Plan Accuracy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49340" y="2959608"/>
            <a:ext cx="5417820" cy="518160"/>
          </a:xfrm>
          <a:prstGeom prst="roundRect">
            <a:avLst/>
          </a:prstGeom>
          <a:solidFill>
            <a:srgbClr val="171B22"/>
          </a:solidFill>
          <a:ln w="10160">
            <a:solidFill>
              <a:srgbClr val="303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13931" y="3078480"/>
            <a:ext cx="5088636" cy="335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2F4F7"/>
                </a:solidFill>
                <a:latin typeface="Helvetica Neue"/>
              </a:defRPr>
            </a:pPr>
            <a:r>
              <a:t>Tool Selection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706368"/>
            <a:ext cx="5417820" cy="518160"/>
          </a:xfrm>
          <a:prstGeom prst="roundRect">
            <a:avLst/>
          </a:prstGeom>
          <a:solidFill>
            <a:srgbClr val="171B22"/>
          </a:solidFill>
          <a:ln w="10160">
            <a:solidFill>
              <a:srgbClr val="303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" y="3825240"/>
            <a:ext cx="5088636" cy="335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2F4F7"/>
                </a:solidFill>
                <a:latin typeface="Helvetica Neue"/>
              </a:defRPr>
            </a:pPr>
            <a:r>
              <a:t>Policy Compliance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49340" y="3706368"/>
            <a:ext cx="5417820" cy="518160"/>
          </a:xfrm>
          <a:prstGeom prst="roundRect">
            <a:avLst/>
          </a:prstGeom>
          <a:solidFill>
            <a:srgbClr val="171B22"/>
          </a:solidFill>
          <a:ln w="10160">
            <a:solidFill>
              <a:srgbClr val="303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13931" y="3825240"/>
            <a:ext cx="5088636" cy="335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6C991"/>
                </a:solidFill>
                <a:latin typeface="Helvetica Neue"/>
              </a:defRPr>
            </a:pPr>
            <a:r>
              <a:t>Execution Success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453128"/>
            <a:ext cx="5417820" cy="518160"/>
          </a:xfrm>
          <a:prstGeom prst="roundRect">
            <a:avLst/>
          </a:prstGeom>
          <a:solidFill>
            <a:srgbClr val="171B22"/>
          </a:solidFill>
          <a:ln w="10160">
            <a:solidFill>
              <a:srgbClr val="303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" y="4572000"/>
            <a:ext cx="5088636" cy="335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2F4F7"/>
                </a:solidFill>
                <a:latin typeface="Helvetica Neue"/>
              </a:defRPr>
            </a:pPr>
            <a:r>
              <a:t>Verified Resolution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49340" y="4453128"/>
            <a:ext cx="5417820" cy="518160"/>
          </a:xfrm>
          <a:prstGeom prst="roundRect">
            <a:avLst/>
          </a:prstGeom>
          <a:solidFill>
            <a:srgbClr val="171B22"/>
          </a:solidFill>
          <a:ln w="10160">
            <a:solidFill>
              <a:srgbClr val="303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13931" y="4572000"/>
            <a:ext cx="5088636" cy="335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2F4F7"/>
                </a:solidFill>
                <a:latin typeface="Helvetica Neue"/>
              </a:defRPr>
            </a:pPr>
            <a:r>
              <a:t>Escalation Accuracy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199888"/>
            <a:ext cx="5417820" cy="518160"/>
          </a:xfrm>
          <a:prstGeom prst="roundRect">
            <a:avLst/>
          </a:prstGeom>
          <a:solidFill>
            <a:srgbClr val="171B22"/>
          </a:solidFill>
          <a:ln w="10160">
            <a:solidFill>
              <a:srgbClr val="303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" y="5318760"/>
            <a:ext cx="5088636" cy="335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2F4F7"/>
                </a:solidFill>
                <a:latin typeface="Helvetica Neue"/>
              </a:defRPr>
            </a:pPr>
            <a:r>
              <a:t>Response Time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49340" y="5199888"/>
            <a:ext cx="5417820" cy="518160"/>
          </a:xfrm>
          <a:prstGeom prst="roundRect">
            <a:avLst/>
          </a:prstGeom>
          <a:solidFill>
            <a:srgbClr val="171B22"/>
          </a:solidFill>
          <a:ln w="10160">
            <a:solidFill>
              <a:srgbClr val="303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13931" y="5318760"/>
            <a:ext cx="5088636" cy="335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2F4F7"/>
                </a:solidFill>
                <a:latin typeface="Helvetica Neue"/>
              </a:defRPr>
            </a:pPr>
            <a:r>
              <a:t>False-Action Rate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5946648"/>
            <a:ext cx="5417820" cy="518160"/>
          </a:xfrm>
          <a:prstGeom prst="roundRect">
            <a:avLst/>
          </a:prstGeom>
          <a:solidFill>
            <a:srgbClr val="171B22"/>
          </a:solidFill>
          <a:ln w="10160">
            <a:solidFill>
              <a:srgbClr val="303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" y="6065520"/>
            <a:ext cx="5088636" cy="335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2F4F7"/>
                </a:solidFill>
                <a:latin typeface="Helvetica Neue"/>
              </a:defRPr>
            </a:pPr>
            <a:r>
              <a:t>Response-time and false-action-rate experiments remain pending.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51052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A0A8B4"/>
                </a:solidFill>
                <a:latin typeface="Helvetica Neue"/>
              </a:defRPr>
            </a:pPr>
            <a:r>
              <a:t>PHOENIX IT HELPDESK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60" y="6510528"/>
            <a:ext cx="1691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A0A8B4"/>
                </a:solidFill>
                <a:latin typeface="Helvetica Neue"/>
              </a:defRPr>
            </a:pPr>
            <a:r>
              <a:t>CSS7102 • CA-03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502920" cy="50292"/>
          </a:xfrm>
          <a:prstGeom prst="rect">
            <a:avLst/>
          </a:prstGeom>
          <a:solidFill>
            <a:srgbClr val="6CA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A0A8B4"/>
                </a:solidFill>
                <a:latin typeface="Helvetica Neue"/>
              </a:defRPr>
            </a:pPr>
            <a:r>
              <a:t>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2F4F7"/>
                </a:solidFill>
                <a:latin typeface="Helvetica Neue"/>
              </a:defRPr>
            </a:pPr>
            <a:r>
              <a:t>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2704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8B4"/>
                </a:solidFill>
                <a:latin typeface="Helvetica Neue"/>
              </a:defRPr>
            </a:pPr>
            <a:r>
              <a:t>Implementation checks passed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212848"/>
            <a:ext cx="5417820" cy="891540"/>
          </a:xfrm>
          <a:prstGeom prst="roundRect">
            <a:avLst/>
          </a:prstGeom>
          <a:solidFill>
            <a:srgbClr val="171B22"/>
          </a:solidFill>
          <a:ln w="10160">
            <a:solidFill>
              <a:srgbClr val="303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2331720"/>
            <a:ext cx="5088636" cy="708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6C991"/>
                </a:solidFill>
                <a:latin typeface="Helvetica Neue"/>
              </a:defRPr>
            </a:pPr>
            <a:r>
              <a:t>Backend health endpoint → PASS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49340" y="2212848"/>
            <a:ext cx="5417820" cy="891540"/>
          </a:xfrm>
          <a:prstGeom prst="roundRect">
            <a:avLst/>
          </a:prstGeom>
          <a:solidFill>
            <a:srgbClr val="171B22"/>
          </a:solidFill>
          <a:ln w="10160">
            <a:solidFill>
              <a:srgbClr val="303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13931" y="2331720"/>
            <a:ext cx="5088636" cy="708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6C991"/>
                </a:solidFill>
                <a:latin typeface="Helvetica Neue"/>
              </a:defRPr>
            </a:pPr>
            <a:r>
              <a:t>npm run lint → PASS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332988"/>
            <a:ext cx="5417820" cy="891540"/>
          </a:xfrm>
          <a:prstGeom prst="roundRect">
            <a:avLst/>
          </a:prstGeom>
          <a:solidFill>
            <a:srgbClr val="171B22"/>
          </a:solidFill>
          <a:ln w="10160">
            <a:solidFill>
              <a:srgbClr val="303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3451860"/>
            <a:ext cx="5088636" cy="708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6C991"/>
                </a:solidFill>
                <a:latin typeface="Helvetica Neue"/>
              </a:defRPr>
            </a:pPr>
            <a:r>
              <a:t>npx tsc --noEmit → PASS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49340" y="3332988"/>
            <a:ext cx="5417820" cy="891540"/>
          </a:xfrm>
          <a:prstGeom prst="roundRect">
            <a:avLst/>
          </a:prstGeom>
          <a:solidFill>
            <a:srgbClr val="171B22"/>
          </a:solidFill>
          <a:ln w="10160">
            <a:solidFill>
              <a:srgbClr val="303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13931" y="3451860"/>
            <a:ext cx="5088636" cy="708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6C991"/>
                </a:solidFill>
                <a:latin typeface="Helvetica Neue"/>
              </a:defRPr>
            </a:pPr>
            <a:r>
              <a:t>npm run build → PASS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453128"/>
            <a:ext cx="5417820" cy="891540"/>
          </a:xfrm>
          <a:prstGeom prst="roundRect">
            <a:avLst/>
          </a:prstGeom>
          <a:solidFill>
            <a:srgbClr val="171B22"/>
          </a:solidFill>
          <a:ln w="10160">
            <a:solidFill>
              <a:srgbClr val="303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" y="4572000"/>
            <a:ext cx="5088636" cy="708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2F4F7"/>
                </a:solidFill>
                <a:latin typeface="Helvetica Neue"/>
              </a:defRPr>
            </a:pPr>
            <a:r>
              <a:t>Production build → 14/14 static pages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49340" y="4453128"/>
            <a:ext cx="5417820" cy="891540"/>
          </a:xfrm>
          <a:prstGeom prst="roundRect">
            <a:avLst/>
          </a:prstGeom>
          <a:solidFill>
            <a:srgbClr val="171B22"/>
          </a:solidFill>
          <a:ln w="10160">
            <a:solidFill>
              <a:srgbClr val="303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13931" y="4572000"/>
            <a:ext cx="5088636" cy="708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6C991"/>
                </a:solidFill>
                <a:latin typeface="Helvetica Neue"/>
              </a:defRPr>
            </a:pPr>
            <a:r>
              <a:t>Live /api/agent/run and /api/agent/run/demo → PASS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5573268"/>
            <a:ext cx="5417820" cy="891540"/>
          </a:xfrm>
          <a:prstGeom prst="roundRect">
            <a:avLst/>
          </a:prstGeom>
          <a:solidFill>
            <a:srgbClr val="171B22"/>
          </a:solidFill>
          <a:ln w="10160">
            <a:solidFill>
              <a:srgbClr val="303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" y="5692140"/>
            <a:ext cx="5088636" cy="708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2F4F7"/>
                </a:solidFill>
                <a:latin typeface="Helvetica Neue"/>
              </a:defRPr>
            </a:pPr>
            <a:r>
              <a:t>Four L1 cases resolved; privileged case escalated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1052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A0A8B4"/>
                </a:solidFill>
                <a:latin typeface="Helvetica Neue"/>
              </a:defRPr>
            </a:pPr>
            <a:r>
              <a:t>PHOENIX IT HELPDESK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6510528"/>
            <a:ext cx="1691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A0A8B4"/>
                </a:solidFill>
                <a:latin typeface="Helvetica Neue"/>
              </a:defRPr>
            </a:pPr>
            <a:r>
              <a:t>CSS7102 • CA-03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502920" cy="50292"/>
          </a:xfrm>
          <a:prstGeom prst="rect">
            <a:avLst/>
          </a:prstGeom>
          <a:solidFill>
            <a:srgbClr val="6CA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A0A8B4"/>
                </a:solidFill>
                <a:latin typeface="Helvetica Neue"/>
              </a:defRPr>
            </a:pPr>
            <a:r>
              <a:t>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2F4F7"/>
                </a:solidFill>
                <a:latin typeface="Helvetica Neue"/>
              </a:defRPr>
            </a:pPr>
            <a:r>
              <a:t>Achievements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2704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8B4"/>
                </a:solidFill>
                <a:latin typeface="Helvetica Neue"/>
              </a:defRPr>
            </a:pPr>
            <a:r>
              <a:t>CA-03 moves the project from design into an operational prototype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212848"/>
            <a:ext cx="5417820" cy="891540"/>
          </a:xfrm>
          <a:prstGeom prst="roundRect">
            <a:avLst/>
          </a:prstGeom>
          <a:solidFill>
            <a:srgbClr val="171B22"/>
          </a:solidFill>
          <a:ln w="10160">
            <a:solidFill>
              <a:srgbClr val="303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2331720"/>
            <a:ext cx="5088636" cy="708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2F4F7"/>
                </a:solidFill>
                <a:latin typeface="Helvetica Neue"/>
              </a:defRPr>
            </a:pPr>
            <a:r>
              <a:t>End-to-end controlled agent workflow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49340" y="2212848"/>
            <a:ext cx="5417820" cy="891540"/>
          </a:xfrm>
          <a:prstGeom prst="roundRect">
            <a:avLst/>
          </a:prstGeom>
          <a:solidFill>
            <a:srgbClr val="171B22"/>
          </a:solidFill>
          <a:ln w="10160">
            <a:solidFill>
              <a:srgbClr val="303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13931" y="2331720"/>
            <a:ext cx="5088636" cy="708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2F4F7"/>
                </a:solidFill>
                <a:latin typeface="Helvetica Neue"/>
              </a:defRPr>
            </a:pPr>
            <a:r>
              <a:t>Knowledge grounding + IT World state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332988"/>
            <a:ext cx="5417820" cy="891540"/>
          </a:xfrm>
          <a:prstGeom prst="roundRect">
            <a:avLst/>
          </a:prstGeom>
          <a:solidFill>
            <a:srgbClr val="171B22"/>
          </a:solidFill>
          <a:ln w="10160">
            <a:solidFill>
              <a:srgbClr val="303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3451860"/>
            <a:ext cx="5088636" cy="708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2F4F7"/>
                </a:solidFill>
                <a:latin typeface="Helvetica Neue"/>
              </a:defRPr>
            </a:pPr>
            <a:r>
              <a:t>Plan evaluation + policy engine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49340" y="3332988"/>
            <a:ext cx="5417820" cy="891540"/>
          </a:xfrm>
          <a:prstGeom prst="roundRect">
            <a:avLst/>
          </a:prstGeom>
          <a:solidFill>
            <a:srgbClr val="171B22"/>
          </a:solidFill>
          <a:ln w="10160">
            <a:solidFill>
              <a:srgbClr val="303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13931" y="3451860"/>
            <a:ext cx="5088636" cy="708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2F4F7"/>
                </a:solidFill>
                <a:latin typeface="Helvetica Neue"/>
              </a:defRPr>
            </a:pPr>
            <a:r>
              <a:t>Allowlisted controlled tool gateway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453128"/>
            <a:ext cx="5417820" cy="891540"/>
          </a:xfrm>
          <a:prstGeom prst="roundRect">
            <a:avLst/>
          </a:prstGeom>
          <a:solidFill>
            <a:srgbClr val="171B22"/>
          </a:solidFill>
          <a:ln w="10160">
            <a:solidFill>
              <a:srgbClr val="303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" y="4572000"/>
            <a:ext cx="5088636" cy="708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2F4F7"/>
                </a:solidFill>
                <a:latin typeface="Helvetica Neue"/>
              </a:defRPr>
            </a:pPr>
            <a:r>
              <a:t>Verification + human escalation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49340" y="4453128"/>
            <a:ext cx="5417820" cy="891540"/>
          </a:xfrm>
          <a:prstGeom prst="roundRect">
            <a:avLst/>
          </a:prstGeom>
          <a:solidFill>
            <a:srgbClr val="171B22"/>
          </a:solidFill>
          <a:ln w="10160">
            <a:solidFill>
              <a:srgbClr val="303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13931" y="4572000"/>
            <a:ext cx="5088636" cy="708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2F4F7"/>
                </a:solidFill>
                <a:latin typeface="Helvetica Neue"/>
              </a:defRPr>
            </a:pPr>
            <a:r>
              <a:t>Integrated frontend command center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5573268"/>
            <a:ext cx="5417820" cy="891540"/>
          </a:xfrm>
          <a:prstGeom prst="roundRect">
            <a:avLst/>
          </a:prstGeom>
          <a:solidFill>
            <a:srgbClr val="171B22"/>
          </a:solidFill>
          <a:ln w="10160">
            <a:solidFill>
              <a:srgbClr val="303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" y="5692140"/>
            <a:ext cx="5088636" cy="708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2F4F7"/>
                </a:solidFill>
                <a:latin typeface="Helvetica Neue"/>
              </a:defRPr>
            </a:pPr>
            <a:r>
              <a:t>Runtime observability + audit prototype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49340" y="5573268"/>
            <a:ext cx="5417820" cy="891540"/>
          </a:xfrm>
          <a:prstGeom prst="roundRect">
            <a:avLst/>
          </a:prstGeom>
          <a:solidFill>
            <a:srgbClr val="171B22"/>
          </a:solidFill>
          <a:ln w="10160">
            <a:solidFill>
              <a:srgbClr val="303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13931" y="5692140"/>
            <a:ext cx="5088636" cy="708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2F4F7"/>
                </a:solidFill>
                <a:latin typeface="Helvetica Neue"/>
              </a:defRPr>
            </a:pPr>
            <a:r>
              <a:t>Version-controlled implementation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1052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A0A8B4"/>
                </a:solidFill>
                <a:latin typeface="Helvetica Neue"/>
              </a:defRPr>
            </a:pPr>
            <a:r>
              <a:t>PHOENIX IT HELPDESK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6960" y="6510528"/>
            <a:ext cx="1691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A0A8B4"/>
                </a:solidFill>
                <a:latin typeface="Helvetica Neue"/>
              </a:defRPr>
            </a:pPr>
            <a:r>
              <a:t>CSS7102 • CA-03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502920" cy="50292"/>
          </a:xfrm>
          <a:prstGeom prst="rect">
            <a:avLst/>
          </a:prstGeom>
          <a:solidFill>
            <a:srgbClr val="6CA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A0A8B4"/>
                </a:solidFill>
                <a:latin typeface="Helvetica Neue"/>
              </a:defRPr>
            </a:pPr>
            <a:r>
              <a:t>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2F4F7"/>
                </a:solidFill>
                <a:latin typeface="Helvetica Neue"/>
              </a:defRPr>
            </a:pPr>
            <a:r>
              <a:t>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2704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8B4"/>
                </a:solidFill>
                <a:latin typeface="Helvetica Neue"/>
              </a:defRPr>
            </a:pPr>
            <a:r>
              <a:t>Current scope is intentionally prototype-level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212848"/>
            <a:ext cx="5417820" cy="914400"/>
          </a:xfrm>
          <a:prstGeom prst="roundRect">
            <a:avLst/>
          </a:prstGeom>
          <a:solidFill>
            <a:srgbClr val="171B22"/>
          </a:solidFill>
          <a:ln w="10160">
            <a:solidFill>
              <a:srgbClr val="303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2331720"/>
            <a:ext cx="508863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2F4F7"/>
                </a:solidFill>
                <a:latin typeface="Helvetica Neue"/>
              </a:defRPr>
            </a:pPr>
            <a:r>
              <a:t>Deterministic retrieval and planning layers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49340" y="2212848"/>
            <a:ext cx="5417820" cy="914400"/>
          </a:xfrm>
          <a:prstGeom prst="roundRect">
            <a:avLst/>
          </a:prstGeom>
          <a:solidFill>
            <a:srgbClr val="171B22"/>
          </a:solidFill>
          <a:ln w="10160">
            <a:solidFill>
              <a:srgbClr val="303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13931" y="2331720"/>
            <a:ext cx="508863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2F4F7"/>
                </a:solidFill>
                <a:latin typeface="Helvetica Neue"/>
              </a:defRPr>
            </a:pPr>
            <a:r>
              <a:t>Simulated controlled tools and mock IT environment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355848"/>
            <a:ext cx="5417820" cy="914400"/>
          </a:xfrm>
          <a:prstGeom prst="roundRect">
            <a:avLst/>
          </a:prstGeom>
          <a:solidFill>
            <a:srgbClr val="171B22"/>
          </a:solidFill>
          <a:ln w="10160">
            <a:solidFill>
              <a:srgbClr val="303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3474720"/>
            <a:ext cx="508863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2F4F7"/>
                </a:solidFill>
                <a:latin typeface="Helvetica Neue"/>
              </a:defRPr>
            </a:pPr>
            <a:r>
              <a:t>Selected Level-1 scenarios only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49340" y="3355848"/>
            <a:ext cx="5417820" cy="914400"/>
          </a:xfrm>
          <a:prstGeom prst="roundRect">
            <a:avLst/>
          </a:prstGeom>
          <a:solidFill>
            <a:srgbClr val="171B22"/>
          </a:solidFill>
          <a:ln w="10160">
            <a:solidFill>
              <a:srgbClr val="303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13931" y="3474720"/>
            <a:ext cx="508863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2F4F7"/>
                </a:solidFill>
                <a:latin typeface="Helvetica Neue"/>
              </a:defRPr>
            </a:pPr>
            <a:r>
              <a:t>No persistent backend audit service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498848"/>
            <a:ext cx="5417820" cy="914400"/>
          </a:xfrm>
          <a:prstGeom prst="roundRect">
            <a:avLst/>
          </a:prstGeom>
          <a:solidFill>
            <a:srgbClr val="171B22"/>
          </a:solidFill>
          <a:ln w="10160">
            <a:solidFill>
              <a:srgbClr val="303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" y="4617720"/>
            <a:ext cx="508863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2F4F7"/>
                </a:solidFill>
                <a:latin typeface="Helvetica Neue"/>
              </a:defRPr>
            </a:pPr>
            <a:r>
              <a:t>Live LLM behavior is not yet evaluated in deployment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49340" y="4498848"/>
            <a:ext cx="5417820" cy="914400"/>
          </a:xfrm>
          <a:prstGeom prst="roundRect">
            <a:avLst/>
          </a:prstGeom>
          <a:solidFill>
            <a:srgbClr val="171B22"/>
          </a:solidFill>
          <a:ln w="10160">
            <a:solidFill>
              <a:srgbClr val="303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13931" y="4617720"/>
            <a:ext cx="508863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2F4F7"/>
                </a:solidFill>
                <a:latin typeface="Helvetica Neue"/>
              </a:defRPr>
            </a:pPr>
            <a:r>
              <a:t>Production integrations require security, authorization and reliability validation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1052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A0A8B4"/>
                </a:solidFill>
                <a:latin typeface="Helvetica Neue"/>
              </a:defRPr>
            </a:pPr>
            <a:r>
              <a:t>PHOENIX IT HELPDESK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66960" y="6510528"/>
            <a:ext cx="1691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A0A8B4"/>
                </a:solidFill>
                <a:latin typeface="Helvetica Neue"/>
              </a:defRPr>
            </a:pPr>
            <a:r>
              <a:t>CSS7102 • CA-03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502920" cy="50292"/>
          </a:xfrm>
          <a:prstGeom prst="rect">
            <a:avLst/>
          </a:prstGeom>
          <a:solidFill>
            <a:srgbClr val="6CA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A0A8B4"/>
                </a:solidFill>
                <a:latin typeface="Helvetica Neue"/>
              </a:defRPr>
            </a:pPr>
            <a:r>
              <a:t>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2F4F7"/>
                </a:solidFill>
                <a:latin typeface="Helvetica Neue"/>
              </a:defRPr>
            </a:pPr>
            <a:r>
              <a:t>Future Development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2704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8B4"/>
                </a:solidFill>
                <a:latin typeface="Helvetica Neue"/>
              </a:defRPr>
            </a:pPr>
            <a:r>
              <a:t>Path toward a measured enterprise pilot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212848"/>
            <a:ext cx="5417820" cy="891540"/>
          </a:xfrm>
          <a:prstGeom prst="roundRect">
            <a:avLst/>
          </a:prstGeom>
          <a:solidFill>
            <a:srgbClr val="171B22"/>
          </a:solidFill>
          <a:ln w="10160">
            <a:solidFill>
              <a:srgbClr val="303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2331720"/>
            <a:ext cx="5088636" cy="708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2F4F7"/>
                </a:solidFill>
                <a:latin typeface="Helvetica Neue"/>
              </a:defRPr>
            </a:pPr>
            <a:r>
              <a:t>Live enterprise LLM with bounded tool calling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49340" y="2212848"/>
            <a:ext cx="5417820" cy="891540"/>
          </a:xfrm>
          <a:prstGeom prst="roundRect">
            <a:avLst/>
          </a:prstGeom>
          <a:solidFill>
            <a:srgbClr val="171B22"/>
          </a:solidFill>
          <a:ln w="10160">
            <a:solidFill>
              <a:srgbClr val="303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13931" y="2331720"/>
            <a:ext cx="5088636" cy="708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2F4F7"/>
                </a:solidFill>
                <a:latin typeface="Helvetica Neue"/>
              </a:defRPr>
            </a:pPr>
            <a:r>
              <a:t>Embeddings/vector retrieval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332988"/>
            <a:ext cx="5417820" cy="891540"/>
          </a:xfrm>
          <a:prstGeom prst="roundRect">
            <a:avLst/>
          </a:prstGeom>
          <a:solidFill>
            <a:srgbClr val="171B22"/>
          </a:solidFill>
          <a:ln w="10160">
            <a:solidFill>
              <a:srgbClr val="303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3451860"/>
            <a:ext cx="5088636" cy="708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2F4F7"/>
                </a:solidFill>
                <a:latin typeface="Helvetica Neue"/>
              </a:defRPr>
            </a:pPr>
            <a:r>
              <a:t>ServiceNow / Jira integration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49340" y="3332988"/>
            <a:ext cx="5417820" cy="891540"/>
          </a:xfrm>
          <a:prstGeom prst="roundRect">
            <a:avLst/>
          </a:prstGeom>
          <a:solidFill>
            <a:srgbClr val="171B22"/>
          </a:solidFill>
          <a:ln w="10160">
            <a:solidFill>
              <a:srgbClr val="303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13931" y="3451860"/>
            <a:ext cx="5088636" cy="708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2F4F7"/>
                </a:solidFill>
                <a:latin typeface="Helvetica Neue"/>
              </a:defRPr>
            </a:pPr>
            <a:r>
              <a:t>Identity / SSO integration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453128"/>
            <a:ext cx="5417820" cy="891540"/>
          </a:xfrm>
          <a:prstGeom prst="roundRect">
            <a:avLst/>
          </a:prstGeom>
          <a:solidFill>
            <a:srgbClr val="171B22"/>
          </a:solidFill>
          <a:ln w="10160">
            <a:solidFill>
              <a:srgbClr val="303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" y="4572000"/>
            <a:ext cx="5088636" cy="708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2F4F7"/>
                </a:solidFill>
                <a:latin typeface="Helvetica Neue"/>
              </a:defRPr>
            </a:pPr>
            <a:r>
              <a:t>Broader workflows and richer IT world model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49340" y="4453128"/>
            <a:ext cx="5417820" cy="891540"/>
          </a:xfrm>
          <a:prstGeom prst="roundRect">
            <a:avLst/>
          </a:prstGeom>
          <a:solidFill>
            <a:srgbClr val="171B22"/>
          </a:solidFill>
          <a:ln w="10160">
            <a:solidFill>
              <a:srgbClr val="303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13931" y="4572000"/>
            <a:ext cx="5088636" cy="708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2F4F7"/>
                </a:solidFill>
                <a:latin typeface="Helvetica Neue"/>
              </a:defRPr>
            </a:pPr>
            <a:r>
              <a:t>Persistent memory and audit storage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5573268"/>
            <a:ext cx="5417820" cy="891540"/>
          </a:xfrm>
          <a:prstGeom prst="roundRect">
            <a:avLst/>
          </a:prstGeom>
          <a:solidFill>
            <a:srgbClr val="171B22"/>
          </a:solidFill>
          <a:ln w="10160">
            <a:solidFill>
              <a:srgbClr val="303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" y="5692140"/>
            <a:ext cx="5088636" cy="708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2F4F7"/>
                </a:solidFill>
                <a:latin typeface="Helvetica Neue"/>
              </a:defRPr>
            </a:pPr>
            <a:r>
              <a:t>Security monitoring and multi-agent orchestration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49340" y="5573268"/>
            <a:ext cx="5417820" cy="891540"/>
          </a:xfrm>
          <a:prstGeom prst="roundRect">
            <a:avLst/>
          </a:prstGeom>
          <a:solidFill>
            <a:srgbClr val="171B22"/>
          </a:solidFill>
          <a:ln w="10160">
            <a:solidFill>
              <a:srgbClr val="303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13931" y="5692140"/>
            <a:ext cx="5088636" cy="708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2F4F7"/>
                </a:solidFill>
                <a:latin typeface="Helvetica Neue"/>
              </a:defRPr>
            </a:pPr>
            <a:r>
              <a:t>Measured pilot deployment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1052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A0A8B4"/>
                </a:solidFill>
                <a:latin typeface="Helvetica Neue"/>
              </a:defRPr>
            </a:pPr>
            <a:r>
              <a:t>PHOENIX IT HELPDESK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6960" y="6510528"/>
            <a:ext cx="1691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A0A8B4"/>
                </a:solidFill>
                <a:latin typeface="Helvetica Neue"/>
              </a:defRPr>
            </a:pPr>
            <a:r>
              <a:t>CSS7102 • CA-03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502920" cy="50292"/>
          </a:xfrm>
          <a:prstGeom prst="rect">
            <a:avLst/>
          </a:prstGeom>
          <a:solidFill>
            <a:srgbClr val="6CA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A0A8B4"/>
                </a:solidFill>
                <a:latin typeface="Helvetica Neue"/>
              </a:defRPr>
            </a:pPr>
            <a:r>
              <a:t>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2F4F7"/>
                </a:solidFill>
                <a:latin typeface="Helvetica Neue"/>
              </a:defRPr>
            </a:pPr>
            <a:r>
              <a:t>Research Contribution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2704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8B4"/>
                </a:solidFill>
                <a:latin typeface="Helvetica Neue"/>
              </a:defRPr>
            </a:pPr>
            <a:r>
              <a:t>Controlled autonomy rather than unrestricted chatbot automation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212848"/>
            <a:ext cx="11064240" cy="891540"/>
          </a:xfrm>
          <a:prstGeom prst="roundRect">
            <a:avLst/>
          </a:prstGeom>
          <a:solidFill>
            <a:srgbClr val="171B22"/>
          </a:solidFill>
          <a:ln w="10160">
            <a:solidFill>
              <a:srgbClr val="303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2331720"/>
            <a:ext cx="10735056" cy="708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F2F4F7"/>
                </a:solidFill>
                <a:latin typeface="Helvetica Neue"/>
              </a:defRPr>
            </a:pPr>
            <a:r>
              <a:t>Integrates request understanding, knowledge grounding, IT state, planning and candidate evaluation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332988"/>
            <a:ext cx="11064240" cy="891540"/>
          </a:xfrm>
          <a:prstGeom prst="roundRect">
            <a:avLst/>
          </a:prstGeom>
          <a:solidFill>
            <a:srgbClr val="171B22"/>
          </a:solidFill>
          <a:ln w="10160">
            <a:solidFill>
              <a:srgbClr val="303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3451860"/>
            <a:ext cx="10735056" cy="708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2F4F7"/>
                </a:solidFill>
                <a:latin typeface="Helvetica Neue"/>
              </a:defRPr>
            </a:pPr>
            <a:r>
              <a:t>Places policy / authorization / risk between reasoning and execution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453128"/>
            <a:ext cx="11064240" cy="891540"/>
          </a:xfrm>
          <a:prstGeom prst="roundRect">
            <a:avLst/>
          </a:prstGeom>
          <a:solidFill>
            <a:srgbClr val="171B22"/>
          </a:solidFill>
          <a:ln w="10160">
            <a:solidFill>
              <a:srgbClr val="303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4572000"/>
            <a:ext cx="10735056" cy="708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2F4F7"/>
                </a:solidFill>
                <a:latin typeface="Helvetica Neue"/>
              </a:defRPr>
            </a:pPr>
            <a:r>
              <a:t>Uses a controlled tool gateway with explicit verification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5573268"/>
            <a:ext cx="11064240" cy="891540"/>
          </a:xfrm>
          <a:prstGeom prst="roundRect">
            <a:avLst/>
          </a:prstGeom>
          <a:solidFill>
            <a:srgbClr val="171B22"/>
          </a:solidFill>
          <a:ln w="10160">
            <a:solidFill>
              <a:srgbClr val="303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5692140"/>
            <a:ext cx="10735056" cy="708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2F4F7"/>
                </a:solidFill>
                <a:latin typeface="Helvetica Neue"/>
              </a:defRPr>
            </a:pPr>
            <a:r>
              <a:t>Treats escalation and auditability as architectural components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052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A0A8B4"/>
                </a:solidFill>
                <a:latin typeface="Helvetica Neue"/>
              </a:defRPr>
            </a:pPr>
            <a:r>
              <a:t>PHOENIX IT HELPDESK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0" y="6510528"/>
            <a:ext cx="1691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A0A8B4"/>
                </a:solidFill>
                <a:latin typeface="Helvetica Neue"/>
              </a:defRPr>
            </a:pPr>
            <a:r>
              <a:t>CSS7102 • CA-03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502920" cy="50292"/>
          </a:xfrm>
          <a:prstGeom prst="rect">
            <a:avLst/>
          </a:prstGeom>
          <a:solidFill>
            <a:srgbClr val="6CA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A0A8B4"/>
                </a:solidFill>
                <a:latin typeface="Helvetica Neue"/>
              </a:defRPr>
            </a:pPr>
            <a:r>
              <a:t>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2F4F7"/>
                </a:solidFill>
                <a:latin typeface="Helvetica Neue"/>
              </a:defRPr>
            </a:pPr>
            <a: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2704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8B4"/>
                </a:solidFill>
                <a:latin typeface="Helvetica Neue"/>
              </a:defRPr>
            </a:pPr>
            <a:r>
              <a:t>CA-03 demonstrates a working controlled-autonomy prototype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212848"/>
            <a:ext cx="11064240" cy="667512"/>
          </a:xfrm>
          <a:prstGeom prst="roundRect">
            <a:avLst/>
          </a:prstGeom>
          <a:solidFill>
            <a:srgbClr val="171B22"/>
          </a:solidFill>
          <a:ln w="10160">
            <a:solidFill>
              <a:srgbClr val="303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2331720"/>
            <a:ext cx="10735056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2F4F7"/>
                </a:solidFill>
                <a:latin typeface="Helvetica Neue"/>
              </a:defRPr>
            </a:pPr>
            <a:r>
              <a:t>Transitioned from CA-02 architecture/research into implementation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108960"/>
            <a:ext cx="11064240" cy="667512"/>
          </a:xfrm>
          <a:prstGeom prst="roundRect">
            <a:avLst/>
          </a:prstGeom>
          <a:solidFill>
            <a:srgbClr val="171B22"/>
          </a:solidFill>
          <a:ln w="10160">
            <a:solidFill>
              <a:srgbClr val="303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3227832"/>
            <a:ext cx="10735056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2F4F7"/>
                </a:solidFill>
                <a:latin typeface="Helvetica Neue"/>
              </a:defRPr>
            </a:pPr>
            <a:r>
              <a:t>Safe Level-1 actions execute through controlled workflows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005072"/>
            <a:ext cx="11064240" cy="667512"/>
          </a:xfrm>
          <a:prstGeom prst="roundRect">
            <a:avLst/>
          </a:prstGeom>
          <a:solidFill>
            <a:srgbClr val="171B22"/>
          </a:solidFill>
          <a:ln w="10160">
            <a:solidFill>
              <a:srgbClr val="303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4123944"/>
            <a:ext cx="10735056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6F6F"/>
                </a:solidFill>
                <a:latin typeface="Helvetica Neue"/>
              </a:defRPr>
            </a:pPr>
            <a:r>
              <a:t>High-risk privileged actions are blocked and escalated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901184"/>
            <a:ext cx="11064240" cy="667512"/>
          </a:xfrm>
          <a:prstGeom prst="roundRect">
            <a:avLst/>
          </a:prstGeom>
          <a:solidFill>
            <a:srgbClr val="171B22"/>
          </a:solidFill>
          <a:ln w="10160">
            <a:solidFill>
              <a:srgbClr val="303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5020056"/>
            <a:ext cx="10735056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6C991"/>
                </a:solidFill>
                <a:latin typeface="Helvetica Neue"/>
              </a:defRPr>
            </a:pPr>
            <a:r>
              <a:t>Successful actions are resolved only after state verification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5797296"/>
            <a:ext cx="11064240" cy="667512"/>
          </a:xfrm>
          <a:prstGeom prst="roundRect">
            <a:avLst/>
          </a:prstGeom>
          <a:solidFill>
            <a:srgbClr val="171B22"/>
          </a:solidFill>
          <a:ln w="10160">
            <a:solidFill>
              <a:srgbClr val="303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" y="5916168"/>
            <a:ext cx="10735056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2F4F7"/>
                </a:solidFill>
                <a:latin typeface="Helvetica Neue"/>
              </a:defRPr>
            </a:pPr>
            <a:r>
              <a:t>Architecture is ready for deeper LLM, retrieval and enterprise integration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A0A8B4"/>
                </a:solidFill>
                <a:latin typeface="Helvetica Neue"/>
              </a:defRPr>
            </a:pPr>
            <a:r>
              <a:t>PHOENIX IT HELPDESK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6510528"/>
            <a:ext cx="1691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A0A8B4"/>
                </a:solidFill>
                <a:latin typeface="Helvetica Neue"/>
              </a:defRPr>
            </a:pPr>
            <a:r>
              <a:t>CSS7102 • CA-03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E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38912"/>
            <a:ext cx="502920" cy="50292"/>
          </a:xfrm>
          <a:prstGeom prst="rect">
            <a:avLst/>
          </a:prstGeom>
          <a:solidFill>
            <a:srgbClr val="6CA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A0A8B4"/>
                </a:solidFill>
                <a:latin typeface="Helvetica Neue"/>
              </a:defRPr>
            </a:pPr>
            <a:r>
              <a:t>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2F4F7"/>
                </a:solidFill>
                <a:latin typeface="Helvetica Neue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2704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8B4"/>
                </a:solidFill>
                <a:latin typeface="Helvetica Neue"/>
              </a:defRPr>
            </a:pPr>
            <a:r>
              <a:t>PHOENIX IT HELPDESK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331720"/>
            <a:ext cx="10698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2F4F7"/>
                </a:solidFill>
                <a:latin typeface="Helvetica Neue"/>
              </a:defRPr>
            </a:pPr>
            <a:r>
              <a:t>Understand. Decide. Act. Verify.</a:t>
            </a:r>
            <a:br/>
            <a:br/>
            <a:r>
              <a:t>Vishnu Prasad Gotur • Shivaraj</a:t>
            </a:r>
            <a:br/>
            <a:r>
              <a:t>Team CAI27 • CSS7102 Mini Project</a:t>
            </a:r>
            <a:br/>
            <a:r>
              <a:t>Guide: Mr. Parth Naik</a:t>
            </a:r>
            <a:br/>
            <a:br/>
            <a:r>
              <a:t>Q&amp;A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A0A8B4"/>
                </a:solidFill>
                <a:latin typeface="Helvetica Neue"/>
              </a:defRPr>
            </a:pPr>
            <a:r>
              <a:t>PHOENIX IT HELPDESK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0" y="6510528"/>
            <a:ext cx="1691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A0A8B4"/>
                </a:solidFill>
                <a:latin typeface="Helvetica Neue"/>
              </a:defRPr>
            </a:pPr>
            <a:r>
              <a:t>CSS7102 • CA-03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